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saveSubsetFonts="1" autoCompressPictures="0">
  <p:sldMasterIdLst>
    <p:sldMasterId id="2147483716" r:id="rId1"/>
  </p:sldMasterIdLst>
  <p:notesMasterIdLst>
    <p:notesMasterId r:id="rId64"/>
  </p:notesMasterIdLst>
  <p:handoutMasterIdLst>
    <p:handoutMasterId r:id="rId65"/>
  </p:handoutMasterIdLst>
  <p:sldIdLst>
    <p:sldId id="256" r:id="rId2"/>
    <p:sldId id="382" r:id="rId3"/>
    <p:sldId id="353" r:id="rId4"/>
    <p:sldId id="414" r:id="rId5"/>
    <p:sldId id="417" r:id="rId6"/>
    <p:sldId id="418" r:id="rId7"/>
    <p:sldId id="416" r:id="rId8"/>
    <p:sldId id="415" r:id="rId9"/>
    <p:sldId id="346" r:id="rId10"/>
    <p:sldId id="405" r:id="rId11"/>
    <p:sldId id="370" r:id="rId12"/>
    <p:sldId id="383" r:id="rId13"/>
    <p:sldId id="375" r:id="rId14"/>
    <p:sldId id="376" r:id="rId15"/>
    <p:sldId id="377" r:id="rId16"/>
    <p:sldId id="378" r:id="rId17"/>
    <p:sldId id="379" r:id="rId18"/>
    <p:sldId id="380" r:id="rId19"/>
    <p:sldId id="384" r:id="rId20"/>
    <p:sldId id="365" r:id="rId21"/>
    <p:sldId id="342" r:id="rId22"/>
    <p:sldId id="407" r:id="rId23"/>
    <p:sldId id="408" r:id="rId24"/>
    <p:sldId id="409" r:id="rId25"/>
    <p:sldId id="410" r:id="rId26"/>
    <p:sldId id="411" r:id="rId27"/>
    <p:sldId id="406" r:id="rId28"/>
    <p:sldId id="401" r:id="rId29"/>
    <p:sldId id="402" r:id="rId30"/>
    <p:sldId id="403" r:id="rId31"/>
    <p:sldId id="404" r:id="rId32"/>
    <p:sldId id="390" r:id="rId33"/>
    <p:sldId id="343" r:id="rId34"/>
    <p:sldId id="385" r:id="rId35"/>
    <p:sldId id="354" r:id="rId36"/>
    <p:sldId id="355" r:id="rId37"/>
    <p:sldId id="386" r:id="rId38"/>
    <p:sldId id="356" r:id="rId39"/>
    <p:sldId id="371" r:id="rId40"/>
    <p:sldId id="387" r:id="rId41"/>
    <p:sldId id="373" r:id="rId42"/>
    <p:sldId id="389" r:id="rId43"/>
    <p:sldId id="374" r:id="rId44"/>
    <p:sldId id="358" r:id="rId45"/>
    <p:sldId id="359" r:id="rId46"/>
    <p:sldId id="362" r:id="rId47"/>
    <p:sldId id="388" r:id="rId48"/>
    <p:sldId id="369" r:id="rId49"/>
    <p:sldId id="372" r:id="rId50"/>
    <p:sldId id="364" r:id="rId51"/>
    <p:sldId id="392" r:id="rId52"/>
    <p:sldId id="391" r:id="rId53"/>
    <p:sldId id="393" r:id="rId54"/>
    <p:sldId id="394" r:id="rId55"/>
    <p:sldId id="395" r:id="rId56"/>
    <p:sldId id="396" r:id="rId57"/>
    <p:sldId id="397" r:id="rId58"/>
    <p:sldId id="398" r:id="rId59"/>
    <p:sldId id="399" r:id="rId60"/>
    <p:sldId id="349" r:id="rId61"/>
    <p:sldId id="350" r:id="rId62"/>
    <p:sldId id="352" r:id="rId63"/>
  </p:sldIdLst>
  <p:sldSz cx="9144000" cy="6858000" type="screen4x3"/>
  <p:notesSz cx="7010400" cy="92964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1" userDrawn="1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03D8D7-24C4-436F-809B-F0A465E381D3}" v="62" dt="2019-08-07T18:25:08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94" autoAdjust="0"/>
    <p:restoredTop sz="88902" autoAdjust="0"/>
  </p:normalViewPr>
  <p:slideViewPr>
    <p:cSldViewPr snapToGrid="0" snapToObjects="1">
      <p:cViewPr varScale="1">
        <p:scale>
          <a:sx n="82" d="100"/>
          <a:sy n="82" d="100"/>
        </p:scale>
        <p:origin x="1692" y="84"/>
      </p:cViewPr>
      <p:guideLst>
        <p:guide orient="horz" pos="741"/>
        <p:guide pos="38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mpinski, Rich" userId="5159d5aa-093e-46f4-807e-746712b394cc" providerId="ADAL" clId="{0403D8D7-24C4-436F-809B-F0A465E381D3}"/>
    <pc:docChg chg="delSld modSld">
      <pc:chgData name="Kempinski, Rich" userId="5159d5aa-093e-46f4-807e-746712b394cc" providerId="ADAL" clId="{0403D8D7-24C4-436F-809B-F0A465E381D3}" dt="2019-08-07T18:25:08.636" v="61" actId="14100"/>
      <pc:docMkLst>
        <pc:docMk/>
      </pc:docMkLst>
      <pc:sldChg chg="modSp">
        <pc:chgData name="Kempinski, Rich" userId="5159d5aa-093e-46f4-807e-746712b394cc" providerId="ADAL" clId="{0403D8D7-24C4-436F-809B-F0A465E381D3}" dt="2019-08-07T15:00:22.275" v="24" actId="20577"/>
        <pc:sldMkLst>
          <pc:docMk/>
          <pc:sldMk cId="829978991" sldId="256"/>
        </pc:sldMkLst>
        <pc:spChg chg="mod">
          <ac:chgData name="Kempinski, Rich" userId="5159d5aa-093e-46f4-807e-746712b394cc" providerId="ADAL" clId="{0403D8D7-24C4-436F-809B-F0A465E381D3}" dt="2019-08-07T15:00:22.275" v="24" actId="20577"/>
          <ac:spMkLst>
            <pc:docMk/>
            <pc:sldMk cId="829978991" sldId="256"/>
            <ac:spMk id="16" creationId="{00000000-0000-0000-0000-000000000000}"/>
          </ac:spMkLst>
        </pc:spChg>
      </pc:sldChg>
      <pc:sldChg chg="del">
        <pc:chgData name="Kempinski, Rich" userId="5159d5aa-093e-46f4-807e-746712b394cc" providerId="ADAL" clId="{0403D8D7-24C4-436F-809B-F0A465E381D3}" dt="2019-08-07T13:30:13.083" v="3" actId="2696"/>
        <pc:sldMkLst>
          <pc:docMk/>
          <pc:sldMk cId="1948772945" sldId="325"/>
        </pc:sldMkLst>
      </pc:sldChg>
      <pc:sldChg chg="del">
        <pc:chgData name="Kempinski, Rich" userId="5159d5aa-093e-46f4-807e-746712b394cc" providerId="ADAL" clId="{0403D8D7-24C4-436F-809B-F0A465E381D3}" dt="2019-08-07T13:30:13.139" v="6" actId="2696"/>
        <pc:sldMkLst>
          <pc:docMk/>
          <pc:sldMk cId="3934772789" sldId="326"/>
        </pc:sldMkLst>
      </pc:sldChg>
      <pc:sldChg chg="del">
        <pc:chgData name="Kempinski, Rich" userId="5159d5aa-093e-46f4-807e-746712b394cc" providerId="ADAL" clId="{0403D8D7-24C4-436F-809B-F0A465E381D3}" dt="2019-08-07T13:30:13.153" v="7" actId="2696"/>
        <pc:sldMkLst>
          <pc:docMk/>
          <pc:sldMk cId="3934772789" sldId="327"/>
        </pc:sldMkLst>
      </pc:sldChg>
      <pc:sldChg chg="del">
        <pc:chgData name="Kempinski, Rich" userId="5159d5aa-093e-46f4-807e-746712b394cc" providerId="ADAL" clId="{0403D8D7-24C4-436F-809B-F0A465E381D3}" dt="2019-08-07T13:30:13.167" v="8" actId="2696"/>
        <pc:sldMkLst>
          <pc:docMk/>
          <pc:sldMk cId="3934772789" sldId="328"/>
        </pc:sldMkLst>
      </pc:sldChg>
      <pc:sldChg chg="del">
        <pc:chgData name="Kempinski, Rich" userId="5159d5aa-093e-46f4-807e-746712b394cc" providerId="ADAL" clId="{0403D8D7-24C4-436F-809B-F0A465E381D3}" dt="2019-08-07T13:30:13.182" v="9" actId="2696"/>
        <pc:sldMkLst>
          <pc:docMk/>
          <pc:sldMk cId="3934772789" sldId="329"/>
        </pc:sldMkLst>
      </pc:sldChg>
      <pc:sldChg chg="del">
        <pc:chgData name="Kempinski, Rich" userId="5159d5aa-093e-46f4-807e-746712b394cc" providerId="ADAL" clId="{0403D8D7-24C4-436F-809B-F0A465E381D3}" dt="2019-08-07T13:30:13.197" v="10" actId="2696"/>
        <pc:sldMkLst>
          <pc:docMk/>
          <pc:sldMk cId="3934772789" sldId="330"/>
        </pc:sldMkLst>
      </pc:sldChg>
      <pc:sldChg chg="del">
        <pc:chgData name="Kempinski, Rich" userId="5159d5aa-093e-46f4-807e-746712b394cc" providerId="ADAL" clId="{0403D8D7-24C4-436F-809B-F0A465E381D3}" dt="2019-08-07T13:30:13.212" v="11" actId="2696"/>
        <pc:sldMkLst>
          <pc:docMk/>
          <pc:sldMk cId="3934772789" sldId="331"/>
        </pc:sldMkLst>
      </pc:sldChg>
      <pc:sldChg chg="del">
        <pc:chgData name="Kempinski, Rich" userId="5159d5aa-093e-46f4-807e-746712b394cc" providerId="ADAL" clId="{0403D8D7-24C4-436F-809B-F0A465E381D3}" dt="2019-08-07T13:30:13.235" v="12" actId="2696"/>
        <pc:sldMkLst>
          <pc:docMk/>
          <pc:sldMk cId="3493005478" sldId="332"/>
        </pc:sldMkLst>
      </pc:sldChg>
      <pc:sldChg chg="del">
        <pc:chgData name="Kempinski, Rich" userId="5159d5aa-093e-46f4-807e-746712b394cc" providerId="ADAL" clId="{0403D8D7-24C4-436F-809B-F0A465E381D3}" dt="2019-08-07T13:30:13.263" v="13" actId="2696"/>
        <pc:sldMkLst>
          <pc:docMk/>
          <pc:sldMk cId="3493005478" sldId="333"/>
        </pc:sldMkLst>
      </pc:sldChg>
      <pc:sldChg chg="del">
        <pc:chgData name="Kempinski, Rich" userId="5159d5aa-093e-46f4-807e-746712b394cc" providerId="ADAL" clId="{0403D8D7-24C4-436F-809B-F0A465E381D3}" dt="2019-08-07T13:30:13.124" v="5" actId="2696"/>
        <pc:sldMkLst>
          <pc:docMk/>
          <pc:sldMk cId="1781125548" sldId="336"/>
        </pc:sldMkLst>
      </pc:sldChg>
      <pc:sldChg chg="del">
        <pc:chgData name="Kempinski, Rich" userId="5159d5aa-093e-46f4-807e-746712b394cc" providerId="ADAL" clId="{0403D8D7-24C4-436F-809B-F0A465E381D3}" dt="2019-08-07T13:30:13.103" v="4" actId="2696"/>
        <pc:sldMkLst>
          <pc:docMk/>
          <pc:sldMk cId="3675066441" sldId="340"/>
        </pc:sldMkLst>
      </pc:sldChg>
      <pc:sldChg chg="modSp">
        <pc:chgData name="Kempinski, Rich" userId="5159d5aa-093e-46f4-807e-746712b394cc" providerId="ADAL" clId="{0403D8D7-24C4-436F-809B-F0A465E381D3}" dt="2019-08-07T13:29:44.442" v="0"/>
        <pc:sldMkLst>
          <pc:docMk/>
          <pc:sldMk cId="1711167244" sldId="342"/>
        </pc:sldMkLst>
        <pc:spChg chg="mod">
          <ac:chgData name="Kempinski, Rich" userId="5159d5aa-093e-46f4-807e-746712b394cc" providerId="ADAL" clId="{0403D8D7-24C4-436F-809B-F0A465E381D3}" dt="2019-08-07T13:29:44.442" v="0"/>
          <ac:spMkLst>
            <pc:docMk/>
            <pc:sldMk cId="1711167244" sldId="342"/>
            <ac:spMk id="3" creationId="{00000000-0000-0000-0000-000000000000}"/>
          </ac:spMkLst>
        </pc:spChg>
      </pc:sldChg>
      <pc:sldChg chg="modSp">
        <pc:chgData name="Kempinski, Rich" userId="5159d5aa-093e-46f4-807e-746712b394cc" providerId="ADAL" clId="{0403D8D7-24C4-436F-809B-F0A465E381D3}" dt="2019-08-07T18:25:08.636" v="61" actId="14100"/>
        <pc:sldMkLst>
          <pc:docMk/>
          <pc:sldMk cId="4118324318" sldId="344"/>
        </pc:sldMkLst>
        <pc:spChg chg="mod">
          <ac:chgData name="Kempinski, Rich" userId="5159d5aa-093e-46f4-807e-746712b394cc" providerId="ADAL" clId="{0403D8D7-24C4-436F-809B-F0A465E381D3}" dt="2019-08-07T13:29:47.445" v="1"/>
          <ac:spMkLst>
            <pc:docMk/>
            <pc:sldMk cId="4118324318" sldId="344"/>
            <ac:spMk id="3" creationId="{00000000-0000-0000-0000-000000000000}"/>
          </ac:spMkLst>
        </pc:spChg>
        <pc:spChg chg="mod">
          <ac:chgData name="Kempinski, Rich" userId="5159d5aa-093e-46f4-807e-746712b394cc" providerId="ADAL" clId="{0403D8D7-24C4-436F-809B-F0A465E381D3}" dt="2019-08-07T18:25:08.636" v="61" actId="14100"/>
          <ac:spMkLst>
            <pc:docMk/>
            <pc:sldMk cId="4118324318" sldId="344"/>
            <ac:spMk id="119" creationId="{00000000-0000-0000-0000-000000000000}"/>
          </ac:spMkLst>
        </pc:spChg>
      </pc:sldChg>
      <pc:sldChg chg="modSp">
        <pc:chgData name="Kempinski, Rich" userId="5159d5aa-093e-46f4-807e-746712b394cc" providerId="ADAL" clId="{0403D8D7-24C4-436F-809B-F0A465E381D3}" dt="2019-08-07T14:10:41.775" v="14" actId="1076"/>
        <pc:sldMkLst>
          <pc:docMk/>
          <pc:sldMk cId="1730176436" sldId="345"/>
        </pc:sldMkLst>
        <pc:spChg chg="mod">
          <ac:chgData name="Kempinski, Rich" userId="5159d5aa-093e-46f4-807e-746712b394cc" providerId="ADAL" clId="{0403D8D7-24C4-436F-809B-F0A465E381D3}" dt="2019-08-07T13:29:50.849" v="2"/>
          <ac:spMkLst>
            <pc:docMk/>
            <pc:sldMk cId="1730176436" sldId="345"/>
            <ac:spMk id="3" creationId="{00000000-0000-0000-0000-000000000000}"/>
          </ac:spMkLst>
        </pc:spChg>
        <pc:cxnChg chg="mod">
          <ac:chgData name="Kempinski, Rich" userId="5159d5aa-093e-46f4-807e-746712b394cc" providerId="ADAL" clId="{0403D8D7-24C4-436F-809B-F0A465E381D3}" dt="2019-08-07T14:10:41.775" v="14" actId="1076"/>
          <ac:cxnSpMkLst>
            <pc:docMk/>
            <pc:sldMk cId="1730176436" sldId="345"/>
            <ac:cxnSpMk id="123" creationId="{00000000-0000-0000-0000-00000000000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E8A4754-911F-AC41-A824-91DA1B8FA50B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69FCDCD-E9B1-454F-9FB4-9225198F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940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90F9559-3A8F-9C4B-A8FD-B97B398BF768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FBBB689-3E0F-4241-AE49-BB02816D0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626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BBB689-3E0F-4241-AE49-BB02816D09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11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 preferRelativeResize="0"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346" y="947484"/>
            <a:ext cx="1735807" cy="15934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4" t="25599" r="9369" b="25265"/>
          <a:stretch/>
        </p:blipFill>
        <p:spPr>
          <a:xfrm>
            <a:off x="540160" y="674175"/>
            <a:ext cx="2200588" cy="520139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6444021"/>
            <a:ext cx="5945444" cy="42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945443" y="6444021"/>
            <a:ext cx="918088" cy="4203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63530" y="6444021"/>
            <a:ext cx="1852908" cy="4203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8716436" y="6444021"/>
            <a:ext cx="427564" cy="4203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483013" y="3704884"/>
            <a:ext cx="8146141" cy="77421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013" y="4577048"/>
            <a:ext cx="4736688" cy="325152"/>
          </a:xfrm>
        </p:spPr>
        <p:txBody>
          <a:bodyPr tIns="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Presenter’s Name</a:t>
            </a:r>
          </a:p>
        </p:txBody>
      </p:sp>
      <p:sp>
        <p:nvSpPr>
          <p:cNvPr id="24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483013" y="4953001"/>
            <a:ext cx="4736688" cy="298450"/>
          </a:xfrm>
        </p:spPr>
        <p:txBody>
          <a:bodyPr tIns="0" bIns="0" anchor="ctr" anchorCtr="0">
            <a:no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12" name="Content Placeholder 16"/>
          <p:cNvSpPr>
            <a:spLocks noGrp="1"/>
          </p:cNvSpPr>
          <p:nvPr>
            <p:ph sz="quarter" idx="11" hasCustomPrompt="1"/>
          </p:nvPr>
        </p:nvSpPr>
        <p:spPr>
          <a:xfrm>
            <a:off x="483012" y="5314944"/>
            <a:ext cx="4736688" cy="292106"/>
          </a:xfrm>
        </p:spPr>
        <p:txBody>
          <a:bodyPr tIns="0" bIns="0" anchor="ctr" anchorCtr="0">
            <a:no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509" y="2761637"/>
            <a:ext cx="8435930" cy="603863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77549" y="3385481"/>
            <a:ext cx="8438889" cy="373719"/>
          </a:xfrm>
        </p:spPr>
        <p:txBody>
          <a:bodyPr lIns="91440" tIns="0" rIns="91440" bIns="0" anchor="b" anchorCtr="0">
            <a:noAutofit/>
          </a:bodyPr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text style</a:t>
            </a:r>
          </a:p>
        </p:txBody>
      </p:sp>
      <p:sp>
        <p:nvSpPr>
          <p:cNvPr id="10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5945444" cy="42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945443" y="0"/>
            <a:ext cx="918088" cy="4203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6863530" y="0"/>
            <a:ext cx="1852908" cy="4203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8716436" y="0"/>
            <a:ext cx="427564" cy="4203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A5D2E96-09D4-684C-BDED-6024B7F428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69158" y="204829"/>
            <a:ext cx="6944443" cy="657953"/>
          </a:xfrm>
        </p:spPr>
        <p:txBody>
          <a:bodyPr anchor="t">
            <a:noAutofit/>
          </a:bodyPr>
          <a:lstStyle/>
          <a:p>
            <a:r>
              <a:rPr lang="en-US" dirty="0"/>
              <a:t>Agenda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1869018"/>
            <a:ext cx="6943725" cy="4226983"/>
          </a:xfrm>
        </p:spPr>
        <p:txBody>
          <a:bodyPr>
            <a:normAutofit/>
          </a:bodyPr>
          <a:lstStyle>
            <a:lvl1pPr>
              <a:lnSpc>
                <a:spcPts val="4500"/>
              </a:lnSpc>
              <a:defRPr sz="220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1.</a:t>
            </a:r>
          </a:p>
          <a:p>
            <a:pPr lvl="0"/>
            <a:r>
              <a:rPr lang="en-US" dirty="0"/>
              <a:t>2.</a:t>
            </a:r>
          </a:p>
          <a:p>
            <a:pPr lvl="0"/>
            <a:r>
              <a:rPr lang="en-US" dirty="0"/>
              <a:t>3.</a:t>
            </a:r>
          </a:p>
          <a:p>
            <a:pPr lvl="0"/>
            <a:r>
              <a:rPr lang="en-US" dirty="0"/>
              <a:t>4.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64849" y="857363"/>
            <a:ext cx="6948752" cy="311037"/>
          </a:xfrm>
        </p:spPr>
        <p:txBody>
          <a:bodyPr lIns="91440" tIns="0" rIns="91440" bIns="0" anchor="b" anchorCtr="0">
            <a:noAutofit/>
          </a:bodyPr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text style</a:t>
            </a:r>
          </a:p>
        </p:txBody>
      </p:sp>
      <p:sp>
        <p:nvSpPr>
          <p:cNvPr id="11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>
      <p:ext uri="{BB962C8B-B14F-4D97-AF65-F5344CB8AC3E}">
        <p14:creationId xmlns:p14="http://schemas.microsoft.com/office/powerpoint/2010/main" val="45480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or Divider -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973191"/>
            <a:ext cx="638175" cy="34261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82963" y="998116"/>
            <a:ext cx="5896743" cy="340125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spcAft>
                <a:spcPts val="0"/>
              </a:spcAft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Use as a Divider slide, or place a quote or fact here. Use on it’s own or to introduce a new section of the presentation. (Georgia 28 </a:t>
            </a:r>
            <a:r>
              <a:rPr lang="en-US" dirty="0" err="1"/>
              <a:t>pt</a:t>
            </a:r>
            <a:r>
              <a:rPr lang="en-US" dirty="0"/>
              <a:t> Bold)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973191"/>
            <a:ext cx="638175" cy="34261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3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>
      <p:ext uri="{BB962C8B-B14F-4D97-AF65-F5344CB8AC3E}">
        <p14:creationId xmlns:p14="http://schemas.microsoft.com/office/powerpoint/2010/main" val="1334112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or Divider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973191"/>
            <a:ext cx="638175" cy="34261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82963" y="998116"/>
            <a:ext cx="5896743" cy="3401253"/>
          </a:xfrm>
        </p:spPr>
        <p:txBody>
          <a:bodyPr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Use as a Divider slide, or place a quote or fact here. Use on it’s own or to introduce a new section of the presentation. (Georgia 28 </a:t>
            </a:r>
            <a:r>
              <a:rPr lang="en-US" dirty="0" err="1"/>
              <a:t>pt</a:t>
            </a:r>
            <a:r>
              <a:rPr lang="en-US" dirty="0"/>
              <a:t> Bold)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973191"/>
            <a:ext cx="638175" cy="34261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1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or Divider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973191"/>
            <a:ext cx="638175" cy="3426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82963" y="998116"/>
            <a:ext cx="5896743" cy="3401253"/>
          </a:xfrm>
        </p:spPr>
        <p:txBody>
          <a:bodyPr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Use as a Divider slide, or place a quote or fact here. Use on it’s own or to introduce a new section of the presentation. (Georgia 28 </a:t>
            </a:r>
            <a:r>
              <a:rPr lang="en-US" dirty="0" err="1"/>
              <a:t>pt</a:t>
            </a:r>
            <a:r>
              <a:rPr lang="en-US" dirty="0"/>
              <a:t> Bold)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973191"/>
            <a:ext cx="638175" cy="34261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0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313" y="1696284"/>
            <a:ext cx="8581720" cy="4281001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200"/>
            </a:lvl1pPr>
            <a:lvl2pPr>
              <a:lnSpc>
                <a:spcPct val="140000"/>
              </a:lnSpc>
              <a:defRPr sz="2200"/>
            </a:lvl2pPr>
            <a:lvl3pPr>
              <a:lnSpc>
                <a:spcPct val="140000"/>
              </a:lnSpc>
              <a:defRPr sz="2200"/>
            </a:lvl3pPr>
            <a:lvl4pPr>
              <a:lnSpc>
                <a:spcPct val="140000"/>
              </a:lnSpc>
              <a:defRPr sz="2200"/>
            </a:lvl4pPr>
            <a:lvl5pPr>
              <a:lnSpc>
                <a:spcPct val="140000"/>
              </a:lnSpc>
              <a:defRPr sz="2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A5D2E96-09D4-684C-BDED-6024B7F428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9158" y="204829"/>
            <a:ext cx="6944443" cy="657953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64849" y="857363"/>
            <a:ext cx="6948752" cy="311037"/>
          </a:xfrm>
        </p:spPr>
        <p:txBody>
          <a:bodyPr lIns="91440" tIns="0" rIns="91440" bIns="0" anchor="b" anchorCtr="0">
            <a:noAutofit/>
          </a:bodyPr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text style</a:t>
            </a:r>
          </a:p>
        </p:txBody>
      </p:sp>
      <p:sp>
        <p:nvSpPr>
          <p:cNvPr id="14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>
      <p:ext uri="{BB962C8B-B14F-4D97-AF65-F5344CB8AC3E}">
        <p14:creationId xmlns:p14="http://schemas.microsoft.com/office/powerpoint/2010/main" val="213029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A5D2E96-09D4-684C-BDED-6024B7F428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9158" y="204829"/>
            <a:ext cx="6944443" cy="657953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64849" y="857363"/>
            <a:ext cx="6948752" cy="311037"/>
          </a:xfrm>
        </p:spPr>
        <p:txBody>
          <a:bodyPr lIns="91440" tIns="0" rIns="91440" bIns="0" anchor="b" anchorCtr="0">
            <a:noAutofit/>
          </a:bodyPr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text style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s - 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A5D2E96-09D4-684C-BDED-6024B7F428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9157" y="206477"/>
            <a:ext cx="6944443" cy="1012723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8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267313" y="1977230"/>
            <a:ext cx="8581720" cy="4281001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200"/>
            </a:lvl1pPr>
            <a:lvl2pPr>
              <a:lnSpc>
                <a:spcPct val="140000"/>
              </a:lnSpc>
              <a:defRPr sz="2200"/>
            </a:lvl2pPr>
            <a:lvl3pPr>
              <a:lnSpc>
                <a:spcPct val="140000"/>
              </a:lnSpc>
              <a:defRPr sz="2200"/>
            </a:lvl3pPr>
            <a:lvl4pPr>
              <a:lnSpc>
                <a:spcPct val="140000"/>
              </a:lnSpc>
              <a:defRPr sz="2200"/>
            </a:lvl4pPr>
            <a:lvl5pPr>
              <a:lnSpc>
                <a:spcPct val="140000"/>
              </a:lnSpc>
              <a:defRPr sz="2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64849" y="1219200"/>
            <a:ext cx="6948752" cy="311037"/>
          </a:xfrm>
        </p:spPr>
        <p:txBody>
          <a:bodyPr lIns="91440" tIns="0" rIns="91440" bIns="0" anchor="b" anchorCtr="0">
            <a:noAutofit/>
          </a:bodyPr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text style</a:t>
            </a:r>
          </a:p>
        </p:txBody>
      </p:sp>
      <p:sp>
        <p:nvSpPr>
          <p:cNvPr id="14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s,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A5D2E96-09D4-684C-BDED-6024B7F428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69157" y="206477"/>
            <a:ext cx="6944443" cy="1012723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64849" y="1219200"/>
            <a:ext cx="6948752" cy="311037"/>
          </a:xfrm>
        </p:spPr>
        <p:txBody>
          <a:bodyPr lIns="91440" tIns="0" rIns="91440" bIns="0" anchor="b" anchorCtr="0">
            <a:noAutofit/>
          </a:bodyPr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text style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vig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157" y="204829"/>
            <a:ext cx="6944443" cy="657953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A5D2E96-09D4-684C-BDED-6024B7F428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78342" y="1032008"/>
            <a:ext cx="1369427" cy="402891"/>
          </a:xfrm>
        </p:spPr>
        <p:txBody>
          <a:bodyPr anchor="ctr" anchorCtr="1">
            <a:noAutofit/>
          </a:bodyPr>
          <a:lstStyle>
            <a:lvl1pPr algn="ctr">
              <a:lnSpc>
                <a:spcPts val="700"/>
              </a:lnSpc>
              <a:spcBef>
                <a:spcPts val="0"/>
              </a:spcBef>
              <a:defRPr sz="1100" b="1" baseline="0"/>
            </a:lvl1pPr>
          </a:lstStyle>
          <a:p>
            <a:pPr lvl="0"/>
            <a:r>
              <a:rPr lang="en-US" dirty="0"/>
              <a:t>Item 1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1934191" y="1032008"/>
            <a:ext cx="1372633" cy="402891"/>
          </a:xfrm>
        </p:spPr>
        <p:txBody>
          <a:bodyPr anchor="ctr" anchorCtr="1">
            <a:noAutofit/>
          </a:bodyPr>
          <a:lstStyle>
            <a:lvl1pPr algn="ctr">
              <a:lnSpc>
                <a:spcPts val="700"/>
              </a:lnSpc>
              <a:spcBef>
                <a:spcPts val="0"/>
              </a:spcBef>
              <a:defRPr sz="1100" b="1" baseline="0"/>
            </a:lvl1pPr>
          </a:lstStyle>
          <a:p>
            <a:pPr lvl="0"/>
            <a:r>
              <a:rPr lang="en-US" dirty="0"/>
              <a:t>Item 2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5268009" y="1032008"/>
            <a:ext cx="1356924" cy="402891"/>
          </a:xfrm>
        </p:spPr>
        <p:txBody>
          <a:bodyPr anchor="ctr" anchorCtr="1">
            <a:noAutofit/>
          </a:bodyPr>
          <a:lstStyle>
            <a:lvl1pPr algn="ctr">
              <a:lnSpc>
                <a:spcPts val="700"/>
              </a:lnSpc>
              <a:spcBef>
                <a:spcPts val="0"/>
              </a:spcBef>
              <a:defRPr sz="1100" b="1" baseline="0"/>
            </a:lvl1pPr>
          </a:lstStyle>
          <a:p>
            <a:pPr lvl="0"/>
            <a:r>
              <a:rPr lang="en-US" dirty="0"/>
              <a:t>Item 4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9" hasCustomPrompt="1"/>
          </p:nvPr>
        </p:nvSpPr>
        <p:spPr>
          <a:xfrm>
            <a:off x="6911357" y="1032008"/>
            <a:ext cx="1372633" cy="402891"/>
          </a:xfrm>
        </p:spPr>
        <p:txBody>
          <a:bodyPr anchor="ctr" anchorCtr="1">
            <a:noAutofit/>
          </a:bodyPr>
          <a:lstStyle>
            <a:lvl1pPr algn="ctr">
              <a:lnSpc>
                <a:spcPts val="700"/>
              </a:lnSpc>
              <a:spcBef>
                <a:spcPts val="0"/>
              </a:spcBef>
              <a:defRPr sz="1100" b="1" baseline="0"/>
            </a:lvl1pPr>
          </a:lstStyle>
          <a:p>
            <a:pPr lvl="0"/>
            <a:r>
              <a:rPr lang="en-US" dirty="0"/>
              <a:t>Item 5</a:t>
            </a:r>
          </a:p>
        </p:txBody>
      </p:sp>
      <p:sp>
        <p:nvSpPr>
          <p:cNvPr id="16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275136" y="1434899"/>
            <a:ext cx="1372633" cy="60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1934191" y="1434899"/>
            <a:ext cx="1372633" cy="60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3593246" y="1433851"/>
            <a:ext cx="1372633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>
          <a:xfrm>
            <a:off x="5252300" y="1434899"/>
            <a:ext cx="1372633" cy="60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 userDrawn="1"/>
        </p:nvSpPr>
        <p:spPr>
          <a:xfrm>
            <a:off x="6911357" y="1434899"/>
            <a:ext cx="1372633" cy="609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3593246" y="1032008"/>
            <a:ext cx="1372633" cy="402891"/>
          </a:xfrm>
        </p:spPr>
        <p:txBody>
          <a:bodyPr anchor="ctr" anchorCtr="1">
            <a:noAutofit/>
          </a:bodyPr>
          <a:lstStyle>
            <a:lvl1pPr algn="ctr">
              <a:lnSpc>
                <a:spcPts val="700"/>
              </a:lnSpc>
              <a:spcBef>
                <a:spcPts val="0"/>
              </a:spcBef>
              <a:defRPr sz="1100" b="1" baseline="0"/>
            </a:lvl1pPr>
          </a:lstStyle>
          <a:p>
            <a:pPr lvl="0"/>
            <a:r>
              <a:rPr lang="en-US" dirty="0"/>
              <a:t>Item 3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267313" y="1696284"/>
            <a:ext cx="8581720" cy="4281001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200"/>
            </a:lvl1pPr>
            <a:lvl2pPr>
              <a:lnSpc>
                <a:spcPct val="140000"/>
              </a:lnSpc>
              <a:defRPr sz="2200"/>
            </a:lvl2pPr>
            <a:lvl3pPr>
              <a:lnSpc>
                <a:spcPct val="140000"/>
              </a:lnSpc>
              <a:defRPr sz="2200"/>
            </a:lvl3pPr>
            <a:lvl4pPr>
              <a:lnSpc>
                <a:spcPct val="140000"/>
              </a:lnSpc>
              <a:defRPr sz="2200"/>
            </a:lvl4pPr>
            <a:lvl5pPr>
              <a:lnSpc>
                <a:spcPct val="140000"/>
              </a:lnSpc>
              <a:defRPr sz="2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>
      <p:ext uri="{BB962C8B-B14F-4D97-AF65-F5344CB8AC3E}">
        <p14:creationId xmlns:p14="http://schemas.microsoft.com/office/powerpoint/2010/main" val="68255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viga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3219042" y="1020719"/>
            <a:ext cx="1394596" cy="414180"/>
          </a:xfrm>
          <a:prstGeom prst="rect">
            <a:avLst/>
          </a:prstGeom>
          <a:solidFill>
            <a:schemeClr val="accent1"/>
          </a:solidFill>
          <a:ln w="25400" cap="rnd" cmpd="sng">
            <a:solidFill>
              <a:schemeClr val="accent1"/>
            </a:solidFill>
            <a:prstDash val="sysDot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157" y="204829"/>
            <a:ext cx="6944443" cy="657953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A5D2E96-09D4-684C-BDED-6024B7F428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69875" y="1032008"/>
            <a:ext cx="1392034" cy="402891"/>
          </a:xfr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lIns="0" tIns="36576" rIns="0" bIns="0" anchor="ctr" anchorCtr="1">
            <a:noAutofit/>
          </a:bodyPr>
          <a:lstStyle>
            <a:lvl1pPr algn="ctr">
              <a:lnSpc>
                <a:spcPts val="700"/>
              </a:lnSpc>
              <a:spcBef>
                <a:spcPts val="0"/>
              </a:spcBef>
              <a:defRPr sz="1100" baseline="0"/>
            </a:lvl1pPr>
          </a:lstStyle>
          <a:p>
            <a:pPr lvl="0"/>
            <a:r>
              <a:rPr lang="en-US" dirty="0"/>
              <a:t>Item 1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1743177" y="1032008"/>
            <a:ext cx="1394596" cy="402891"/>
          </a:xfr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lIns="0" tIns="36576" rIns="0" bIns="0" anchor="ctr" anchorCtr="1">
            <a:noAutofit/>
          </a:bodyPr>
          <a:lstStyle>
            <a:lvl1pPr algn="ctr">
              <a:lnSpc>
                <a:spcPts val="700"/>
              </a:lnSpc>
              <a:spcBef>
                <a:spcPts val="0"/>
              </a:spcBef>
              <a:defRPr sz="1100" baseline="0"/>
            </a:lvl1pPr>
          </a:lstStyle>
          <a:p>
            <a:pPr lvl="0"/>
            <a:r>
              <a:rPr lang="en-US" dirty="0"/>
              <a:t>Item 2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3213713" y="1032008"/>
            <a:ext cx="1394596" cy="402891"/>
          </a:xfrm>
        </p:spPr>
        <p:txBody>
          <a:bodyPr tIns="36576" bIns="0" anchor="ctr" anchorCtr="1">
            <a:noAutofit/>
          </a:bodyPr>
          <a:lstStyle>
            <a:lvl1pPr algn="ctr">
              <a:lnSpc>
                <a:spcPts val="700"/>
              </a:lnSpc>
              <a:spcBef>
                <a:spcPts val="0"/>
              </a:spcBef>
              <a:defRPr sz="1100" baseline="0"/>
            </a:lvl1pPr>
          </a:lstStyle>
          <a:p>
            <a:pPr lvl="0"/>
            <a:r>
              <a:rPr lang="en-US" dirty="0"/>
              <a:t>Item 3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4694907" y="1032008"/>
            <a:ext cx="1394596" cy="402891"/>
          </a:xfr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lIns="0" tIns="36576" rIns="0" bIns="0" anchor="ctr" anchorCtr="1">
            <a:noAutofit/>
          </a:bodyPr>
          <a:lstStyle>
            <a:lvl1pPr algn="ctr">
              <a:lnSpc>
                <a:spcPts val="700"/>
              </a:lnSpc>
              <a:spcBef>
                <a:spcPts val="0"/>
              </a:spcBef>
              <a:defRPr sz="1100" baseline="0"/>
            </a:lvl1pPr>
          </a:lstStyle>
          <a:p>
            <a:pPr lvl="0"/>
            <a:r>
              <a:rPr lang="en-US" dirty="0"/>
              <a:t>Item 4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9" hasCustomPrompt="1"/>
          </p:nvPr>
        </p:nvSpPr>
        <p:spPr>
          <a:xfrm>
            <a:off x="6170771" y="1032008"/>
            <a:ext cx="1394596" cy="402891"/>
          </a:xfr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lIns="0" tIns="36576" rIns="0" bIns="0" anchor="ctr" anchorCtr="1">
            <a:noAutofit/>
          </a:bodyPr>
          <a:lstStyle>
            <a:lvl1pPr algn="ctr">
              <a:lnSpc>
                <a:spcPts val="700"/>
              </a:lnSpc>
              <a:spcBef>
                <a:spcPts val="0"/>
              </a:spcBef>
              <a:defRPr sz="1100" baseline="0"/>
            </a:lvl1pPr>
          </a:lstStyle>
          <a:p>
            <a:pPr lvl="0"/>
            <a:r>
              <a:rPr lang="en-US" dirty="0"/>
              <a:t>Item 5</a:t>
            </a:r>
          </a:p>
        </p:txBody>
      </p:sp>
      <p:sp>
        <p:nvSpPr>
          <p:cNvPr id="16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267313" y="1696284"/>
            <a:ext cx="8581720" cy="4281001"/>
          </a:xfrm>
        </p:spPr>
        <p:txBody>
          <a:bodyPr>
            <a:noAutofit/>
          </a:bodyPr>
          <a:lstStyle>
            <a:lvl1pPr>
              <a:lnSpc>
                <a:spcPct val="140000"/>
              </a:lnSpc>
              <a:defRPr sz="2200"/>
            </a:lvl1pPr>
            <a:lvl2pPr>
              <a:lnSpc>
                <a:spcPct val="140000"/>
              </a:lnSpc>
              <a:defRPr sz="2200"/>
            </a:lvl2pPr>
            <a:lvl3pPr>
              <a:lnSpc>
                <a:spcPct val="140000"/>
              </a:lnSpc>
              <a:defRPr sz="2200"/>
            </a:lvl3pPr>
            <a:lvl4pPr>
              <a:lnSpc>
                <a:spcPct val="140000"/>
              </a:lnSpc>
              <a:defRPr sz="2200"/>
            </a:lvl4pPr>
            <a:lvl5pPr>
              <a:lnSpc>
                <a:spcPct val="140000"/>
              </a:lnSpc>
              <a:defRPr sz="2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>
      <p:ext uri="{BB962C8B-B14F-4D97-AF65-F5344CB8AC3E}">
        <p14:creationId xmlns:p14="http://schemas.microsoft.com/office/powerpoint/2010/main" val="785764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9156" y="1452245"/>
            <a:ext cx="3886200" cy="435133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9656" y="1452245"/>
            <a:ext cx="3886200" cy="435133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9158" y="204829"/>
            <a:ext cx="6944443" cy="657953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158" y="1845870"/>
            <a:ext cx="2530509" cy="643330"/>
          </a:xfrm>
        </p:spPr>
        <p:txBody>
          <a:bodyPr t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A5D2E96-09D4-684C-BDED-6024B7F428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6"/>
          </p:nvPr>
        </p:nvSpPr>
        <p:spPr>
          <a:xfrm>
            <a:off x="3145122" y="1845870"/>
            <a:ext cx="2530509" cy="643330"/>
          </a:xfrm>
        </p:spPr>
        <p:txBody>
          <a:bodyPr t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8"/>
          </p:nvPr>
        </p:nvSpPr>
        <p:spPr>
          <a:xfrm>
            <a:off x="6005729" y="1845870"/>
            <a:ext cx="2530509" cy="643330"/>
          </a:xfrm>
        </p:spPr>
        <p:txBody>
          <a:bodyPr t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69158" y="204829"/>
            <a:ext cx="6944443" cy="657953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272009" y="2659247"/>
            <a:ext cx="2531074" cy="3272367"/>
          </a:xfrm>
        </p:spPr>
        <p:txBody>
          <a:bodyPr>
            <a:noAutofit/>
          </a:bodyPr>
          <a:lstStyle>
            <a:lvl1pPr>
              <a:lnSpc>
                <a:spcPts val="2200"/>
              </a:lnSpc>
              <a:defRPr sz="1800"/>
            </a:lvl1pPr>
            <a:lvl2pPr>
              <a:lnSpc>
                <a:spcPts val="2200"/>
              </a:lnSpc>
              <a:defRPr sz="1800"/>
            </a:lvl2pPr>
            <a:lvl3pPr>
              <a:lnSpc>
                <a:spcPts val="2200"/>
              </a:lnSpc>
              <a:defRPr sz="1800"/>
            </a:lvl3pPr>
            <a:lvl4pPr>
              <a:lnSpc>
                <a:spcPts val="2200"/>
              </a:lnSpc>
              <a:defRPr sz="1800"/>
            </a:lvl4pPr>
            <a:lvl5pPr>
              <a:lnSpc>
                <a:spcPts val="2200"/>
              </a:lnSpc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3145733" y="2659247"/>
            <a:ext cx="2531074" cy="3272367"/>
          </a:xfrm>
        </p:spPr>
        <p:txBody>
          <a:bodyPr>
            <a:noAutofit/>
          </a:bodyPr>
          <a:lstStyle>
            <a:lvl1pPr>
              <a:lnSpc>
                <a:spcPts val="2200"/>
              </a:lnSpc>
              <a:defRPr sz="1800"/>
            </a:lvl1pPr>
            <a:lvl2pPr>
              <a:lnSpc>
                <a:spcPts val="2200"/>
              </a:lnSpc>
              <a:defRPr sz="1800"/>
            </a:lvl2pPr>
            <a:lvl3pPr>
              <a:lnSpc>
                <a:spcPts val="2200"/>
              </a:lnSpc>
              <a:defRPr sz="1800"/>
            </a:lvl3pPr>
            <a:lvl4pPr>
              <a:lnSpc>
                <a:spcPts val="2200"/>
              </a:lnSpc>
              <a:defRPr sz="1800"/>
            </a:lvl4pPr>
            <a:lvl5pPr>
              <a:lnSpc>
                <a:spcPts val="2200"/>
              </a:lnSpc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3"/>
          </p:nvPr>
        </p:nvSpPr>
        <p:spPr>
          <a:xfrm>
            <a:off x="6005163" y="2659247"/>
            <a:ext cx="2531074" cy="3272367"/>
          </a:xfrm>
        </p:spPr>
        <p:txBody>
          <a:bodyPr>
            <a:noAutofit/>
          </a:bodyPr>
          <a:lstStyle>
            <a:lvl1pPr>
              <a:lnSpc>
                <a:spcPts val="2200"/>
              </a:lnSpc>
              <a:defRPr sz="1800"/>
            </a:lvl1pPr>
            <a:lvl2pPr>
              <a:lnSpc>
                <a:spcPts val="2200"/>
              </a:lnSpc>
              <a:defRPr sz="1800"/>
            </a:lvl2pPr>
            <a:lvl3pPr>
              <a:lnSpc>
                <a:spcPts val="2200"/>
              </a:lnSpc>
              <a:defRPr sz="1800"/>
            </a:lvl3pPr>
            <a:lvl4pPr>
              <a:lnSpc>
                <a:spcPts val="2200"/>
              </a:lnSpc>
              <a:defRPr sz="1800"/>
            </a:lvl4pPr>
            <a:lvl5pPr>
              <a:lnSpc>
                <a:spcPts val="2200"/>
              </a:lnSpc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264849" y="857363"/>
            <a:ext cx="6948752" cy="311037"/>
          </a:xfrm>
        </p:spPr>
        <p:txBody>
          <a:bodyPr lIns="91440" tIns="0" rIns="91440" bIns="0" anchor="b" anchorCtr="0">
            <a:noAutofit/>
          </a:bodyPr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text style</a:t>
            </a:r>
          </a:p>
        </p:txBody>
      </p:sp>
      <p:sp>
        <p:nvSpPr>
          <p:cNvPr id="20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158" y="204829"/>
            <a:ext cx="6944443" cy="657953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A5D2E96-09D4-684C-BDED-6024B7F428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64849" y="857363"/>
            <a:ext cx="6948752" cy="311037"/>
          </a:xfrm>
        </p:spPr>
        <p:txBody>
          <a:bodyPr lIns="91440" tIns="0" rIns="91440" bIns="0" anchor="b" anchorCtr="0">
            <a:noAutofit/>
          </a:bodyPr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text style</a:t>
            </a:r>
          </a:p>
        </p:txBody>
      </p:sp>
      <p:sp>
        <p:nvSpPr>
          <p:cNvPr id="18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67313" y="1920547"/>
            <a:ext cx="2692561" cy="575214"/>
          </a:xfrm>
        </p:spPr>
        <p:txBody>
          <a:bodyPr tIns="0" bIns="0" anchor="t">
            <a:noAutofit/>
          </a:bodyPr>
          <a:lstStyle>
            <a:lvl1pPr algn="l">
              <a:lnSpc>
                <a:spcPct val="100000"/>
              </a:lnSpc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5"/>
          </p:nvPr>
        </p:nvSpPr>
        <p:spPr>
          <a:xfrm>
            <a:off x="267313" y="3181447"/>
            <a:ext cx="2692561" cy="575214"/>
          </a:xfrm>
        </p:spPr>
        <p:txBody>
          <a:bodyPr tIns="0" bIns="0" anchor="t">
            <a:noAutofit/>
          </a:bodyPr>
          <a:lstStyle>
            <a:lvl1pPr algn="l">
              <a:lnSpc>
                <a:spcPct val="100000"/>
              </a:lnSpc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6"/>
          </p:nvPr>
        </p:nvSpPr>
        <p:spPr>
          <a:xfrm>
            <a:off x="267313" y="4466711"/>
            <a:ext cx="2692561" cy="575214"/>
          </a:xfrm>
        </p:spPr>
        <p:txBody>
          <a:bodyPr tIns="0" bIns="0" anchor="t">
            <a:noAutofit/>
          </a:bodyPr>
          <a:lstStyle>
            <a:lvl1pPr algn="l">
              <a:lnSpc>
                <a:spcPct val="100000"/>
              </a:lnSpc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7"/>
          </p:nvPr>
        </p:nvSpPr>
        <p:spPr>
          <a:xfrm>
            <a:off x="3067601" y="1857045"/>
            <a:ext cx="5441601" cy="862965"/>
          </a:xfrm>
        </p:spPr>
        <p:txBody>
          <a:bodyPr tIns="0" bIns="0" anchor="t" anchorCtr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half" idx="18"/>
          </p:nvPr>
        </p:nvSpPr>
        <p:spPr>
          <a:xfrm>
            <a:off x="3067601" y="3125663"/>
            <a:ext cx="5441601" cy="879612"/>
          </a:xfrm>
        </p:spPr>
        <p:txBody>
          <a:bodyPr tIns="0" bIns="0" anchor="t" anchorCtr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9"/>
          </p:nvPr>
        </p:nvSpPr>
        <p:spPr>
          <a:xfrm>
            <a:off x="3067601" y="4403209"/>
            <a:ext cx="5441601" cy="1045091"/>
          </a:xfrm>
        </p:spPr>
        <p:txBody>
          <a:bodyPr tIns="0" bIns="0" anchor="t" anchorCtr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ows /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A5D2E96-09D4-684C-BDED-6024B7F428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1593" y="4122420"/>
            <a:ext cx="2066864" cy="147950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00" b="1"/>
            </a:lvl1pPr>
            <a:lvl2pPr marL="4763" indent="0" algn="ctr">
              <a:lnSpc>
                <a:spcPct val="100000"/>
              </a:lnSpc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2430841" y="4122420"/>
            <a:ext cx="2066864" cy="147950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00" b="1"/>
            </a:lvl1pPr>
            <a:lvl2pPr marL="4763" indent="0" algn="ctr">
              <a:lnSpc>
                <a:spcPct val="100000"/>
              </a:lnSpc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6"/>
          </p:nvPr>
        </p:nvSpPr>
        <p:spPr>
          <a:xfrm>
            <a:off x="4640088" y="4122420"/>
            <a:ext cx="2066864" cy="147950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00" b="1"/>
            </a:lvl1pPr>
            <a:lvl2pPr marL="4763" indent="0" algn="ctr">
              <a:lnSpc>
                <a:spcPct val="100000"/>
              </a:lnSpc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7"/>
          </p:nvPr>
        </p:nvSpPr>
        <p:spPr>
          <a:xfrm>
            <a:off x="6849334" y="4122420"/>
            <a:ext cx="2066864" cy="147950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500" b="1"/>
            </a:lvl1pPr>
            <a:lvl2pPr marL="4763" indent="0" algn="ctr">
              <a:lnSpc>
                <a:spcPct val="100000"/>
              </a:lnSpc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2"/>
          <p:cNvSpPr txBox="1">
            <a:spLocks/>
          </p:cNvSpPr>
          <p:nvPr userDrawn="1"/>
        </p:nvSpPr>
        <p:spPr>
          <a:xfrm>
            <a:off x="6349490" y="100694"/>
            <a:ext cx="2794510" cy="208269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rgbClr val="006AB6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r"/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Confidential </a:t>
            </a:r>
            <a:r>
              <a:rPr lang="mr-IN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–</a:t>
            </a:r>
            <a:r>
              <a:rPr lang="en-US" sz="800" dirty="0">
                <a:solidFill>
                  <a:prstClr val="white">
                    <a:lumMod val="65000"/>
                  </a:prstClr>
                </a:solidFill>
                <a:ea typeface="Arial" charset="0"/>
                <a:cs typeface="Arial" charset="0"/>
              </a:rPr>
              <a:t> for internal use only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69157" y="206477"/>
            <a:ext cx="6944443" cy="1012723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64849" y="1219200"/>
            <a:ext cx="6948752" cy="311037"/>
          </a:xfrm>
        </p:spPr>
        <p:txBody>
          <a:bodyPr lIns="91440" tIns="0" rIns="91440" bIns="0" anchor="b" anchorCtr="0">
            <a:noAutofit/>
          </a:bodyPr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Subtitle text style</a:t>
            </a:r>
          </a:p>
        </p:txBody>
      </p:sp>
      <p:sp>
        <p:nvSpPr>
          <p:cNvPr id="19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/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1320266" y="6527425"/>
            <a:ext cx="3086100" cy="14449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To edit go to: Insert &gt; Header and Footer</a:t>
            </a:r>
          </a:p>
        </p:txBody>
      </p:sp>
    </p:spTree>
    <p:extLst/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267BAF2-036C-4DF0-8F9E-ECDB8B7D8A5A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CF17F-C143-4CA7-9A5A-188B9F8FE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7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157" y="204829"/>
            <a:ext cx="6394608" cy="76037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314" y="1854329"/>
            <a:ext cx="8089489" cy="428100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6802" y="6415343"/>
            <a:ext cx="678426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D2E96-09D4-684C-BDED-6024B7F4284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4" t="25599" r="9369" b="25265"/>
          <a:stretch/>
        </p:blipFill>
        <p:spPr>
          <a:xfrm>
            <a:off x="265415" y="6459798"/>
            <a:ext cx="985535" cy="23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24" r:id="rId2"/>
    <p:sldLayoutId id="2147483741" r:id="rId3"/>
    <p:sldLayoutId id="2147483725" r:id="rId4"/>
    <p:sldLayoutId id="2147483726" r:id="rId5"/>
    <p:sldLayoutId id="2147483727" r:id="rId6"/>
    <p:sldLayoutId id="2147483735" r:id="rId7"/>
    <p:sldLayoutId id="2147483720" r:id="rId8"/>
    <p:sldLayoutId id="2147483722" r:id="rId9"/>
    <p:sldLayoutId id="2147483723" r:id="rId10"/>
    <p:sldLayoutId id="2147483737" r:id="rId11"/>
    <p:sldLayoutId id="2147483739" r:id="rId12"/>
    <p:sldLayoutId id="2147483728" r:id="rId13"/>
    <p:sldLayoutId id="2147483731" r:id="rId14"/>
    <p:sldLayoutId id="2147483732" r:id="rId15"/>
    <p:sldLayoutId id="2147483733" r:id="rId16"/>
    <p:sldLayoutId id="2147483734" r:id="rId17"/>
    <p:sldLayoutId id="2147483742" r:id="rId1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Georgia" charset="0"/>
          <a:ea typeface="Georgia" charset="0"/>
          <a:cs typeface="Georgia" charset="0"/>
        </a:defRPr>
      </a:lvl1pPr>
    </p:titleStyle>
    <p:bodyStyle>
      <a:lvl1pPr marL="0" indent="0" algn="l" defTabSz="685800" rtl="0" eaLnBrk="1" latinLnBrk="0" hangingPunct="1">
        <a:lnSpc>
          <a:spcPct val="140000"/>
        </a:lnSpc>
        <a:spcBef>
          <a:spcPts val="750"/>
        </a:spcBef>
        <a:buFont typeface="Arial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130969" indent="-126206" algn="l" defTabSz="685800" rtl="0" eaLnBrk="1" latinLnBrk="0" hangingPunct="1">
        <a:lnSpc>
          <a:spcPct val="140000"/>
        </a:lnSpc>
        <a:spcBef>
          <a:spcPts val="375"/>
        </a:spcBef>
        <a:buFont typeface="Arial"/>
        <a:buChar char="•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302419" indent="-171450" algn="l" defTabSz="685800" rtl="0" eaLnBrk="1" latinLnBrk="0" hangingPunct="1">
        <a:lnSpc>
          <a:spcPct val="140000"/>
        </a:lnSpc>
        <a:spcBef>
          <a:spcPts val="375"/>
        </a:spcBef>
        <a:buFont typeface=".AppleSystemUIFont" charset="-120"/>
        <a:buChar char="−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428625" indent="-132160" algn="l" defTabSz="685800" rtl="0" eaLnBrk="1" latinLnBrk="0" hangingPunct="1">
        <a:lnSpc>
          <a:spcPct val="140000"/>
        </a:lnSpc>
        <a:spcBef>
          <a:spcPts val="375"/>
        </a:spcBef>
        <a:buFont typeface="Arial"/>
        <a:buChar char="•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560785" indent="-170260" algn="l" defTabSz="685800" rtl="0" eaLnBrk="1" latinLnBrk="0" hangingPunct="1">
        <a:lnSpc>
          <a:spcPct val="140000"/>
        </a:lnSpc>
        <a:spcBef>
          <a:spcPts val="375"/>
        </a:spcBef>
        <a:buFont typeface=".AppleSystemUIFont" charset="-120"/>
        <a:buChar char="−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427">
          <p15:clr>
            <a:srgbClr val="F26B43"/>
          </p15:clr>
        </p15:guide>
        <p15:guide id="2" pos="288">
          <p15:clr>
            <a:srgbClr val="F26B43"/>
          </p15:clr>
        </p15:guide>
        <p15:guide id="3" orient="horz" pos="1361">
          <p15:clr>
            <a:srgbClr val="F26B43"/>
          </p15:clr>
        </p15:guide>
        <p15:guide id="4" orient="horz" pos="4176">
          <p15:clr>
            <a:srgbClr val="F26B43"/>
          </p15:clr>
        </p15:guide>
        <p15:guide id="5" orient="horz" pos="1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59825" y="4182512"/>
            <a:ext cx="14382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rgbClr val="C00000"/>
                </a:solidFill>
              </a:rPr>
              <a:t>Azure Databricks</a:t>
            </a:r>
            <a:endParaRPr lang="en-US" sz="1200" b="1" dirty="0">
              <a:solidFill>
                <a:srgbClr val="C00000"/>
              </a:solidFill>
            </a:endParaRPr>
          </a:p>
        </p:txBody>
      </p:sp>
      <p:pic>
        <p:nvPicPr>
          <p:cNvPr id="1026" name="Picture 2" descr="Image result for solid foundation of bric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825" y="3525007"/>
            <a:ext cx="1364669" cy="70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ubtitle 14"/>
          <p:cNvSpPr>
            <a:spLocks noGrp="1"/>
          </p:cNvSpPr>
          <p:nvPr>
            <p:ph type="subTitle" idx="1"/>
          </p:nvPr>
        </p:nvSpPr>
        <p:spPr>
          <a:xfrm>
            <a:off x="483013" y="4577048"/>
            <a:ext cx="4736688" cy="1190706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0"/>
          </p:nvPr>
        </p:nvSpPr>
        <p:spPr>
          <a:xfrm>
            <a:off x="483013" y="4590090"/>
            <a:ext cx="4178634" cy="1718244"/>
          </a:xfrm>
        </p:spPr>
        <p:txBody>
          <a:bodyPr/>
          <a:lstStyle/>
          <a:p>
            <a:r>
              <a:rPr lang="en-US" dirty="0"/>
              <a:t>Rich </a:t>
            </a:r>
            <a:r>
              <a:rPr lang="en-US" dirty="0" smtClean="0"/>
              <a:t>Kempinski</a:t>
            </a:r>
          </a:p>
          <a:p>
            <a:r>
              <a:rPr lang="en-US" dirty="0" smtClean="0"/>
              <a:t>Investments Architecture</a:t>
            </a:r>
            <a:endParaRPr lang="en-US" dirty="0"/>
          </a:p>
          <a:p>
            <a:r>
              <a:rPr lang="en-US" dirty="0"/>
              <a:t>Sept </a:t>
            </a:r>
            <a:r>
              <a:rPr lang="en-US" dirty="0" smtClean="0"/>
              <a:t>2019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40164" y="3085042"/>
            <a:ext cx="8146141" cy="1130463"/>
          </a:xfrm>
        </p:spPr>
        <p:txBody>
          <a:bodyPr/>
          <a:lstStyle/>
          <a:p>
            <a:r>
              <a:rPr lang="en-US" dirty="0" smtClean="0"/>
              <a:t> GRID DataFrame Framework  (GDF)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sz="2000" i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+mn-lt"/>
              </a:rPr>
              <a:t>Building on solid foundations</a:t>
            </a:r>
            <a:endParaRPr lang="en-US" sz="2000" b="0" i="1" dirty="0">
              <a:solidFill>
                <a:schemeClr val="accent3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997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514" y="1149479"/>
            <a:ext cx="8089489" cy="4136624"/>
          </a:xfrm>
        </p:spPr>
        <p:txBody>
          <a:bodyPr/>
          <a:lstStyle/>
          <a:p>
            <a:r>
              <a:rPr lang="en-US" sz="2800" dirty="0" smtClean="0"/>
              <a:t>To </a:t>
            </a:r>
            <a:r>
              <a:rPr lang="en-US" sz="2800" dirty="0"/>
              <a:t>p</a:t>
            </a:r>
            <a:r>
              <a:rPr lang="en-US" sz="2800" dirty="0" smtClean="0"/>
              <a:t>rovide an overview of</a:t>
            </a:r>
          </a:p>
          <a:p>
            <a:pPr lvl="3"/>
            <a:r>
              <a:rPr lang="en-US" sz="2800" dirty="0" smtClean="0"/>
              <a:t> The end-to-end Data Architecture for Digital</a:t>
            </a:r>
          </a:p>
          <a:p>
            <a:pPr lvl="3"/>
            <a:r>
              <a:rPr lang="en-US" sz="2800" dirty="0" smtClean="0"/>
              <a:t> Azure Databricks</a:t>
            </a:r>
          </a:p>
          <a:p>
            <a:pPr lvl="3"/>
            <a:r>
              <a:rPr lang="en-US" sz="2800" dirty="0" smtClean="0"/>
              <a:t> GRID Dataframe Framework (GDF)</a:t>
            </a:r>
          </a:p>
          <a:p>
            <a:pPr lvl="3"/>
            <a:endParaRPr lang="en-US" sz="2800" dirty="0"/>
          </a:p>
          <a:p>
            <a:pPr marL="130969" lvl="2" indent="0">
              <a:buNone/>
            </a:pPr>
            <a:r>
              <a:rPr lang="en-US" sz="2800" i="1" dirty="0" smtClean="0"/>
              <a:t>More details in follow-up </a:t>
            </a:r>
            <a:r>
              <a:rPr lang="en-US" sz="2800" i="1" dirty="0" smtClean="0"/>
              <a:t>sessions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CF17F-C143-4CA7-9A5A-188B9F8FE8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7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157" y="206477"/>
            <a:ext cx="8766071" cy="581799"/>
          </a:xfrm>
        </p:spPr>
        <p:txBody>
          <a:bodyPr/>
          <a:lstStyle/>
          <a:p>
            <a:r>
              <a:rPr lang="en-US" dirty="0" smtClean="0"/>
              <a:t>Overall Digital End-to-end Architecture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37" y="844442"/>
            <a:ext cx="7615865" cy="562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4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157" y="206477"/>
            <a:ext cx="8766071" cy="581799"/>
          </a:xfrm>
        </p:spPr>
        <p:txBody>
          <a:bodyPr/>
          <a:lstStyle/>
          <a:p>
            <a:r>
              <a:rPr lang="en-US" dirty="0" smtClean="0"/>
              <a:t>Overall Digital End-to-end Architecture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37" y="844442"/>
            <a:ext cx="7615865" cy="56287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937" y="1993544"/>
            <a:ext cx="1512736" cy="41301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511" y="667912"/>
            <a:ext cx="1993327" cy="9761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b="1" dirty="0" smtClean="0"/>
              <a:t>Source systems delivering consisten</a:t>
            </a:r>
            <a:r>
              <a:rPr lang="en-US" b="1" dirty="0" smtClean="0"/>
              <a:t>t &amp; complete data</a:t>
            </a:r>
            <a:endParaRPr lang="en-US" b="1" dirty="0" smtClean="0"/>
          </a:p>
        </p:txBody>
      </p:sp>
      <p:cxnSp>
        <p:nvCxnSpPr>
          <p:cNvPr id="9" name="Straight Arrow Connector 8"/>
          <p:cNvCxnSpPr>
            <a:stCxn id="7" idx="2"/>
          </p:cNvCxnSpPr>
          <p:nvPr/>
        </p:nvCxnSpPr>
        <p:spPr>
          <a:xfrm>
            <a:off x="1059175" y="1644094"/>
            <a:ext cx="95370" cy="349450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85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157" y="206477"/>
            <a:ext cx="8766071" cy="581799"/>
          </a:xfrm>
        </p:spPr>
        <p:txBody>
          <a:bodyPr/>
          <a:lstStyle/>
          <a:p>
            <a:r>
              <a:rPr lang="en-US" dirty="0" smtClean="0"/>
              <a:t>Overall Digital End-to-end Architecture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37" y="844442"/>
            <a:ext cx="7615865" cy="56287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15918" y="1993544"/>
            <a:ext cx="912373" cy="41301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511" y="667912"/>
            <a:ext cx="1993327" cy="9761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b="1" dirty="0" smtClean="0"/>
              <a:t>GRID</a:t>
            </a:r>
          </a:p>
          <a:p>
            <a:pPr algn="ctr"/>
            <a:r>
              <a:rPr lang="en-US" b="1" dirty="0" smtClean="0"/>
              <a:t>use of th</a:t>
            </a:r>
            <a:r>
              <a:rPr lang="en-US" b="1" dirty="0" smtClean="0"/>
              <a:t>e Azure Data Lake for long-term data storage</a:t>
            </a:r>
            <a:endParaRPr lang="en-US" b="1" dirty="0" smtClean="0"/>
          </a:p>
        </p:txBody>
      </p:sp>
      <p:cxnSp>
        <p:nvCxnSpPr>
          <p:cNvPr id="9" name="Straight Arrow Connector 8"/>
          <p:cNvCxnSpPr>
            <a:stCxn id="7" idx="2"/>
          </p:cNvCxnSpPr>
          <p:nvPr/>
        </p:nvCxnSpPr>
        <p:spPr>
          <a:xfrm>
            <a:off x="1059175" y="1644094"/>
            <a:ext cx="1556743" cy="628051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68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157" y="206477"/>
            <a:ext cx="8766071" cy="581799"/>
          </a:xfrm>
        </p:spPr>
        <p:txBody>
          <a:bodyPr/>
          <a:lstStyle/>
          <a:p>
            <a:r>
              <a:rPr lang="en-US" dirty="0" smtClean="0"/>
              <a:t>Overall Digital End-to-end Architecture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37" y="844442"/>
            <a:ext cx="7615865" cy="56287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62485" y="680256"/>
            <a:ext cx="3880408" cy="10547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7680" y="585850"/>
            <a:ext cx="1637335" cy="10671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b="1" dirty="0" smtClean="0"/>
              <a:t>Azure PaaS capabilities used for orchestration</a:t>
            </a:r>
            <a:endParaRPr lang="en-US" b="1" dirty="0" smtClean="0"/>
          </a:p>
        </p:txBody>
      </p:sp>
      <p:cxnSp>
        <p:nvCxnSpPr>
          <p:cNvPr id="9" name="Straight Arrow Connector 8"/>
          <p:cNvCxnSpPr>
            <a:stCxn id="7" idx="3"/>
            <a:endCxn id="6" idx="1"/>
          </p:cNvCxnSpPr>
          <p:nvPr/>
        </p:nvCxnSpPr>
        <p:spPr>
          <a:xfrm>
            <a:off x="1735015" y="1119402"/>
            <a:ext cx="527470" cy="88234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879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157" y="206477"/>
            <a:ext cx="8766071" cy="581799"/>
          </a:xfrm>
        </p:spPr>
        <p:txBody>
          <a:bodyPr/>
          <a:lstStyle/>
          <a:p>
            <a:r>
              <a:rPr lang="en-US" dirty="0" smtClean="0"/>
              <a:t>Overall Digital End-to-end Architecture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37" y="844442"/>
            <a:ext cx="7615865" cy="562871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49997" y="1818819"/>
            <a:ext cx="2372111" cy="36121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511" y="667911"/>
            <a:ext cx="2375889" cy="10038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b="1" dirty="0" smtClean="0"/>
              <a:t>Azure Databrick</a:t>
            </a:r>
            <a:r>
              <a:rPr lang="en-US" b="1" dirty="0" smtClean="0"/>
              <a:t>s &amp; the GRID Data Framework as a Platform to standardize &amp; simplify ETL</a:t>
            </a:r>
            <a:endParaRPr lang="en-US" b="1" dirty="0" smtClean="0"/>
          </a:p>
        </p:txBody>
      </p:sp>
      <p:cxnSp>
        <p:nvCxnSpPr>
          <p:cNvPr id="12" name="Straight Arrow Connector 11"/>
          <p:cNvCxnSpPr>
            <a:stCxn id="11" idx="2"/>
          </p:cNvCxnSpPr>
          <p:nvPr/>
        </p:nvCxnSpPr>
        <p:spPr>
          <a:xfrm>
            <a:off x="1250456" y="1671782"/>
            <a:ext cx="2399541" cy="1154545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0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157" y="206477"/>
            <a:ext cx="8766071" cy="581799"/>
          </a:xfrm>
        </p:spPr>
        <p:txBody>
          <a:bodyPr/>
          <a:lstStyle/>
          <a:p>
            <a:r>
              <a:rPr lang="en-US" dirty="0" smtClean="0"/>
              <a:t>Overall Digital End-to-end Architecture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37" y="844442"/>
            <a:ext cx="7615865" cy="56287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8790" y="2540001"/>
            <a:ext cx="1217174" cy="17179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511637" y="537133"/>
            <a:ext cx="2632364" cy="9761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b="1" dirty="0" smtClean="0"/>
              <a:t>Making data available in the DOS (Azure Cosmos DB) for client access through APIs. </a:t>
            </a:r>
            <a:endParaRPr lang="en-US" b="1" dirty="0" smtClean="0"/>
          </a:p>
        </p:txBody>
      </p:sp>
      <p:cxnSp>
        <p:nvCxnSpPr>
          <p:cNvPr id="9" name="Straight Arrow Connector 8"/>
          <p:cNvCxnSpPr>
            <a:stCxn id="7" idx="2"/>
            <a:endCxn id="6" idx="0"/>
          </p:cNvCxnSpPr>
          <p:nvPr/>
        </p:nvCxnSpPr>
        <p:spPr>
          <a:xfrm flipH="1">
            <a:off x="6697377" y="1513315"/>
            <a:ext cx="1130442" cy="1026686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4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06930"/>
            <a:ext cx="9059292" cy="406033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CML DSF     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GRID                         DOS       API           Portal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443" y="1428750"/>
            <a:ext cx="7130849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68" y="2743200"/>
            <a:ext cx="904875" cy="155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1242643" y="1254369"/>
            <a:ext cx="0" cy="13364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538043" y="1254369"/>
            <a:ext cx="0" cy="10316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205043" y="1219200"/>
            <a:ext cx="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6424244" y="1219200"/>
            <a:ext cx="11724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8053750" y="1219200"/>
            <a:ext cx="0" cy="2095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3764953" y="4002700"/>
            <a:ext cx="1" cy="14075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6" name="TextBox 2055"/>
          <p:cNvSpPr txBox="1"/>
          <p:nvPr/>
        </p:nvSpPr>
        <p:spPr>
          <a:xfrm>
            <a:off x="1078138" y="4718542"/>
            <a:ext cx="5300680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  <a:effectLst>
            <a:outerShdw blurRad="215900" dist="50800" dir="1800000" sx="102000" sy="102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</a:rPr>
              <a:t>Requirements of this </a:t>
            </a:r>
            <a:r>
              <a:rPr lang="en-US" sz="1200" b="1" dirty="0" smtClean="0">
                <a:solidFill>
                  <a:srgbClr val="FF0000"/>
                </a:solidFill>
              </a:rPr>
              <a:t>Transformation </a:t>
            </a:r>
            <a:r>
              <a:rPr lang="en-US" sz="1200" b="1" dirty="0">
                <a:solidFill>
                  <a:srgbClr val="FF0000"/>
                </a:solidFill>
              </a:rPr>
              <a:t>process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Extract payloads from GRID &amp; handle corrections from source systems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Join, project, filter, aggregate data based on </a:t>
            </a:r>
            <a:r>
              <a:rPr lang="en-US" sz="1200" dirty="0" smtClean="0"/>
              <a:t>needs </a:t>
            </a:r>
            <a:r>
              <a:rPr lang="en-US" sz="1200" dirty="0"/>
              <a:t>of the target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Apply record-specific data adjustments (AKA data “overrides”)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Apply “Langhorne-style” domain-value translations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Load final results to DOS </a:t>
            </a:r>
            <a:r>
              <a:rPr lang="en-US" sz="1200" dirty="0" smtClean="0"/>
              <a:t>(for delivery to APIs and the Digital Portal)</a:t>
            </a: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3466943" y="3039116"/>
            <a:ext cx="6703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ETL</a:t>
            </a:r>
          </a:p>
        </p:txBody>
      </p:sp>
      <p:sp>
        <p:nvSpPr>
          <p:cNvPr id="44" name="Title 1"/>
          <p:cNvSpPr txBox="1">
            <a:spLocks/>
          </p:cNvSpPr>
          <p:nvPr/>
        </p:nvSpPr>
        <p:spPr>
          <a:xfrm>
            <a:off x="59581" y="153284"/>
            <a:ext cx="7994169" cy="75290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 smtClean="0"/>
              <a:t>Reminder of the Problem we are trying to solve:</a:t>
            </a:r>
          </a:p>
          <a:p>
            <a:pPr>
              <a:lnSpc>
                <a:spcPct val="100000"/>
              </a:lnSpc>
            </a:pPr>
            <a:r>
              <a:rPr lang="en-US" sz="2400" dirty="0" smtClean="0"/>
              <a:t>Transformations from GRID to DOS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43" y="2883693"/>
            <a:ext cx="790575" cy="1276350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480643" y="1254369"/>
            <a:ext cx="0" cy="13364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118080" y="2781300"/>
            <a:ext cx="1320570" cy="12595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3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ETL </a:t>
            </a:r>
            <a:r>
              <a:rPr lang="en-US" dirty="0" smtClean="0"/>
              <a:t>operations required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 edit go to: Insert &gt; Header and Footer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82052" y="881947"/>
          <a:ext cx="8304747" cy="5223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369"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/>
                        <a:t>Select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Standard SQL projection to reduce</a:t>
                      </a:r>
                      <a:r>
                        <a:rPr lang="en-US" sz="1100" baseline="0" dirty="0"/>
                        <a:t> the columns returned</a:t>
                      </a:r>
                      <a:endParaRPr lang="en-US" sz="1100" dirty="0"/>
                    </a:p>
                    <a:p>
                      <a:r>
                        <a:rPr lang="en-US" sz="1100" i="1" dirty="0"/>
                        <a:t>e.g.</a:t>
                      </a:r>
                      <a:r>
                        <a:rPr lang="en-US" sz="1100" i="1" baseline="0" dirty="0"/>
                        <a:t> select </a:t>
                      </a:r>
                      <a:r>
                        <a:rPr lang="en-US" sz="1100" i="1" baseline="0" dirty="0" err="1"/>
                        <a:t>asset_id</a:t>
                      </a:r>
                      <a:r>
                        <a:rPr lang="en-US" sz="1100" i="1" baseline="0" dirty="0"/>
                        <a:t>, </a:t>
                      </a:r>
                      <a:r>
                        <a:rPr lang="en-US" sz="1100" i="1" baseline="0" dirty="0" err="1"/>
                        <a:t>asset_type</a:t>
                      </a:r>
                      <a:r>
                        <a:rPr lang="en-US" sz="1100" i="1" baseline="0" dirty="0"/>
                        <a:t> from ...</a:t>
                      </a:r>
                      <a:endParaRPr lang="en-US" sz="11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/>
                        <a:t>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Standard</a:t>
                      </a:r>
                      <a:r>
                        <a:rPr lang="en-US" sz="1100" baseline="0" dirty="0"/>
                        <a:t> SQL filter to reduce the rows returned</a:t>
                      </a:r>
                    </a:p>
                    <a:p>
                      <a:r>
                        <a:rPr lang="en-US" sz="1100" i="1" baseline="0" dirty="0"/>
                        <a:t>e.g. ... where </a:t>
                      </a:r>
                      <a:r>
                        <a:rPr lang="en-US" sz="1100" i="1" baseline="0" dirty="0" err="1"/>
                        <a:t>asset_type</a:t>
                      </a:r>
                      <a:r>
                        <a:rPr lang="en-US" sz="1100" i="1" baseline="0" dirty="0"/>
                        <a:t> == ‘CML’</a:t>
                      </a:r>
                      <a:endParaRPr lang="en-US" sz="11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/>
                        <a:t>Join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Standard SQL joins</a:t>
                      </a:r>
                      <a:r>
                        <a:rPr lang="en-US" sz="1100" baseline="0" dirty="0"/>
                        <a:t> across multiple data frames</a:t>
                      </a:r>
                      <a:endParaRPr lang="en-US" sz="1100" dirty="0"/>
                    </a:p>
                    <a:p>
                      <a:r>
                        <a:rPr lang="en-US" sz="1100" i="1" baseline="0" dirty="0"/>
                        <a:t>e.g. select ... from </a:t>
                      </a:r>
                      <a:r>
                        <a:rPr lang="en-US" sz="1100" i="1" baseline="0" dirty="0" err="1"/>
                        <a:t>AMster</a:t>
                      </a:r>
                      <a:r>
                        <a:rPr lang="en-US" sz="1100" i="1" baseline="0" dirty="0"/>
                        <a:t>  join </a:t>
                      </a:r>
                      <a:r>
                        <a:rPr lang="en-US" sz="1100" i="1" baseline="0" dirty="0" err="1"/>
                        <a:t>Pos</a:t>
                      </a:r>
                      <a:r>
                        <a:rPr lang="en-US" sz="1100" i="1" baseline="0" dirty="0"/>
                        <a:t> on Amster.id = Pos.id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/>
                        <a:t>Aggregate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Standard</a:t>
                      </a:r>
                      <a:r>
                        <a:rPr lang="en-US" sz="1100" baseline="0" dirty="0"/>
                        <a:t> SQL aggregations, sum, average, count, ...</a:t>
                      </a:r>
                    </a:p>
                    <a:p>
                      <a:r>
                        <a:rPr lang="en-US" sz="1100" i="1" baseline="0" dirty="0"/>
                        <a:t>e.g. sum the principal balance for all loans aggregated by property type</a:t>
                      </a:r>
                      <a:endParaRPr lang="en-US" sz="11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/>
                        <a:t>Translate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Translate specific field</a:t>
                      </a:r>
                      <a:r>
                        <a:rPr lang="en-US" sz="1100" baseline="0" dirty="0"/>
                        <a:t> values for all data, for a specific client</a:t>
                      </a:r>
                    </a:p>
                    <a:p>
                      <a:r>
                        <a:rPr lang="en-US" sz="1100" i="1" baseline="0" dirty="0"/>
                        <a:t>e.g. for client X, translate property type “Apt” to “Apartments” for all of their loans</a:t>
                      </a:r>
                      <a:endParaRPr lang="en-US" sz="11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/>
                        <a:t>Override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Apply a specific</a:t>
                      </a:r>
                      <a:r>
                        <a:rPr lang="en-US" sz="1100" baseline="0" dirty="0"/>
                        <a:t> adjustment to a specific record for a specific as-of-date</a:t>
                      </a:r>
                    </a:p>
                    <a:p>
                      <a:r>
                        <a:rPr lang="en-US" sz="1100" i="1" baseline="0" dirty="0"/>
                        <a:t>e.g. change the met-rating for loan with ID 12345 from  “AA” to “A” , only on July-10-2019</a:t>
                      </a:r>
                      <a:endParaRPr lang="en-US" sz="11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/>
                        <a:t>Reformat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Transform a value to a new format</a:t>
                      </a:r>
                    </a:p>
                    <a:p>
                      <a:r>
                        <a:rPr lang="en-US" sz="1100" i="1" baseline="0" dirty="0"/>
                        <a:t>e.g. format double value </a:t>
                      </a:r>
                      <a:r>
                        <a:rPr lang="en-US" sz="1100" i="1" baseline="0" dirty="0">
                          <a:latin typeface="Consolas" panose="020B0609020204030204" pitchFamily="49" charset="0"/>
                        </a:rPr>
                        <a:t>7981234.3200001 to string “$7,981,234.32”</a:t>
                      </a:r>
                      <a:endParaRPr lang="en-US" sz="1100" i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/>
                        <a:t>Extract from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Read canonical JSON</a:t>
                      </a:r>
                      <a:r>
                        <a:rPr lang="en-US" sz="1100" baseline="0" dirty="0"/>
                        <a:t> data from the RDZ to create a dataframe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/>
                        <a:t>Load to 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Write a</a:t>
                      </a:r>
                      <a:r>
                        <a:rPr lang="en-US" sz="1100" baseline="0" dirty="0"/>
                        <a:t> dataframe to some target data source, e.g. Cosmos DB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93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Paradigm shift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 edit go to: Insert &gt; Header and Footer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628801"/>
              </p:ext>
            </p:extLst>
          </p:nvPr>
        </p:nvGraphicFramePr>
        <p:xfrm>
          <a:off x="382052" y="881947"/>
          <a:ext cx="8304747" cy="5223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7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369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Current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Future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 smtClean="0"/>
                        <a:t>XML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JSON</a:t>
                      </a:r>
                      <a:endParaRPr lang="en-US" sz="18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 smtClean="0"/>
                        <a:t>MSSQL Database</a:t>
                      </a:r>
                      <a:r>
                        <a:rPr lang="en-US" sz="1800" baseline="0" dirty="0" smtClean="0"/>
                        <a:t> Table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i="0" dirty="0" smtClean="0"/>
                        <a:t>Spark</a:t>
                      </a:r>
                      <a:r>
                        <a:rPr lang="en-US" sz="1800" i="0" baseline="0" dirty="0" smtClean="0"/>
                        <a:t> </a:t>
                      </a:r>
                      <a:r>
                        <a:rPr lang="en-US" sz="1800" i="0" dirty="0" smtClean="0"/>
                        <a:t>DataFrame</a:t>
                      </a:r>
                      <a:endParaRPr lang="en-US" sz="18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747978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 smtClean="0"/>
                        <a:t>SQL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Spark SQL</a:t>
                      </a:r>
                      <a:endParaRPr lang="en-US" sz="18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 smtClean="0"/>
                        <a:t>Stored</a:t>
                      </a:r>
                      <a:r>
                        <a:rPr lang="en-US" sz="1800" baseline="0" dirty="0" smtClean="0"/>
                        <a:t> Procedure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Databricks</a:t>
                      </a:r>
                      <a:r>
                        <a:rPr lang="en-US" sz="1800" baseline="0" dirty="0" smtClean="0"/>
                        <a:t> Notebook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 smtClean="0"/>
                        <a:t>T-</a:t>
                      </a:r>
                      <a:r>
                        <a:rPr lang="en-US" sz="1800" baseline="0" dirty="0" smtClean="0"/>
                        <a:t>SQL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i="0" baseline="0" dirty="0" smtClean="0">
                          <a:latin typeface="+mn-lt"/>
                        </a:rPr>
                        <a:t>Python, </a:t>
                      </a:r>
                      <a:r>
                        <a:rPr lang="en-US" sz="1800" i="0" dirty="0" smtClean="0">
                          <a:latin typeface="+mn-lt"/>
                        </a:rPr>
                        <a:t>PySpark,</a:t>
                      </a:r>
                      <a:r>
                        <a:rPr lang="en-US" sz="1800" i="0" baseline="0" dirty="0" smtClean="0">
                          <a:latin typeface="+mn-lt"/>
                        </a:rPr>
                        <a:t> Spark SQL</a:t>
                      </a:r>
                      <a:endParaRPr lang="en-US" sz="1800" i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899342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 smtClean="0"/>
                        <a:t>NAS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Azure Data</a:t>
                      </a:r>
                      <a:r>
                        <a:rPr lang="en-US" sz="1800" baseline="0" dirty="0" smtClean="0"/>
                        <a:t> Lake Storage (Gen 2)</a:t>
                      </a:r>
                      <a:endParaRPr lang="en-US" sz="18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 smtClean="0"/>
                        <a:t>TWS Jobs</a:t>
                      </a:r>
                      <a:r>
                        <a:rPr lang="en-US" sz="1800" baseline="0" dirty="0" smtClean="0"/>
                        <a:t> Scheduler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Events + Pub/Sub</a:t>
                      </a:r>
                      <a:endParaRPr lang="en-US" sz="1800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 smtClean="0"/>
                        <a:t>Load</a:t>
                      </a:r>
                      <a:r>
                        <a:rPr lang="en-US" sz="1800" baseline="0" dirty="0" smtClean="0"/>
                        <a:t> by parsing </a:t>
                      </a:r>
                      <a:r>
                        <a:rPr lang="en-US" sz="1800" dirty="0" smtClean="0"/>
                        <a:t>XML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Read</a:t>
                      </a:r>
                      <a:r>
                        <a:rPr lang="en-US" sz="1800" baseline="0" dirty="0" smtClean="0"/>
                        <a:t> a GRID DataFrame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2369">
                <a:tc>
                  <a:txBody>
                    <a:bodyPr/>
                    <a:lstStyle/>
                    <a:p>
                      <a:pPr marL="0" lvl="1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55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GRID - Global Repository for Investments Data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22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4536" y="1207477"/>
            <a:ext cx="8384497" cy="5319947"/>
          </a:xfrm>
        </p:spPr>
        <p:txBody>
          <a:bodyPr/>
          <a:lstStyle/>
          <a:p>
            <a:r>
              <a:rPr lang="en-US" sz="2000" dirty="0" smtClean="0"/>
              <a:t>GRID stores payload data delivered from source system applications</a:t>
            </a:r>
          </a:p>
          <a:p>
            <a:r>
              <a:rPr lang="en-US" sz="2000" dirty="0" smtClean="0"/>
              <a:t>GRID Data organized by:</a:t>
            </a:r>
          </a:p>
          <a:p>
            <a:pPr marL="473869" lvl="1" indent="-342900"/>
            <a:r>
              <a:rPr lang="en-US" sz="2000" dirty="0" smtClean="0"/>
              <a:t>Data Class, Data Set Type, As of Date, Region &amp; Period</a:t>
            </a:r>
          </a:p>
          <a:p>
            <a:r>
              <a:rPr lang="en-US" sz="2000" dirty="0" smtClean="0"/>
              <a:t>GRID Data is immutable:</a:t>
            </a:r>
          </a:p>
          <a:p>
            <a:pPr marL="51435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Data are never </a:t>
            </a:r>
            <a:r>
              <a:rPr lang="en-US" sz="2000" dirty="0" smtClean="0"/>
              <a:t>deleted</a:t>
            </a:r>
          </a:p>
          <a:p>
            <a:pPr marL="514350" lvl="2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Changes are delivered as </a:t>
            </a:r>
            <a:r>
              <a:rPr lang="en-US" sz="2000" b="1" dirty="0" smtClean="0"/>
              <a:t>full payloads </a:t>
            </a:r>
            <a:r>
              <a:rPr lang="en-US" sz="2000" dirty="0" smtClean="0"/>
              <a:t>or </a:t>
            </a:r>
            <a:r>
              <a:rPr lang="en-US" sz="2000" b="1" dirty="0" smtClean="0"/>
              <a:t>correction payloads</a:t>
            </a:r>
          </a:p>
          <a:p>
            <a:pPr marL="514350" lvl="2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All payloads are timestamped (in UTC</a:t>
            </a:r>
            <a:r>
              <a:rPr lang="en-US" sz="2000" dirty="0"/>
              <a:t> </a:t>
            </a:r>
            <a:r>
              <a:rPr lang="en-US" sz="2000" dirty="0" smtClean="0"/>
              <a:t>time)</a:t>
            </a:r>
            <a:endParaRPr lang="en-US" sz="2000" dirty="0"/>
          </a:p>
          <a:p>
            <a:r>
              <a:rPr lang="en-US" sz="2000" dirty="0" smtClean="0"/>
              <a:t>Any data in the GRID is found by knowing:</a:t>
            </a:r>
          </a:p>
          <a:p>
            <a:pPr marL="171450" lvl="2" indent="0">
              <a:spcBef>
                <a:spcPts val="750"/>
              </a:spcBef>
              <a:buNone/>
            </a:pPr>
            <a:r>
              <a:rPr lang="en-US" sz="2000" i="1" dirty="0" err="1" smtClean="0"/>
              <a:t>DataClass</a:t>
            </a:r>
            <a:r>
              <a:rPr lang="en-US" sz="2000" i="1" dirty="0"/>
              <a:t>, </a:t>
            </a:r>
            <a:r>
              <a:rPr lang="en-US" sz="2000" i="1" dirty="0" err="1" smtClean="0"/>
              <a:t>DataSetType</a:t>
            </a:r>
            <a:r>
              <a:rPr lang="en-US" sz="2000" i="1" dirty="0"/>
              <a:t>, </a:t>
            </a:r>
            <a:r>
              <a:rPr lang="en-US" sz="2000" i="1" dirty="0" smtClean="0"/>
              <a:t>As-of-Date</a:t>
            </a:r>
            <a:r>
              <a:rPr lang="en-US" sz="2000" i="1" dirty="0"/>
              <a:t>, </a:t>
            </a:r>
            <a:r>
              <a:rPr lang="en-US" sz="2000" i="1" dirty="0" smtClean="0"/>
              <a:t>Region, Period, Point-in-time</a:t>
            </a:r>
          </a:p>
          <a:p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766070" cy="657953"/>
          </a:xfrm>
        </p:spPr>
        <p:txBody>
          <a:bodyPr/>
          <a:lstStyle/>
          <a:p>
            <a:r>
              <a:rPr lang="en-US" dirty="0" smtClean="0"/>
              <a:t>GRID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770773"/>
            <a:ext cx="8584184" cy="311037"/>
          </a:xfrm>
        </p:spPr>
        <p:txBody>
          <a:bodyPr/>
          <a:lstStyle/>
          <a:p>
            <a:r>
              <a:rPr lang="en-US" dirty="0" smtClean="0"/>
              <a:t>Defines the Standard Layout for data in Azure Data Lake Storage (ADLS Gen2)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71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1693" y="1207479"/>
            <a:ext cx="8229600" cy="1852244"/>
          </a:xfrm>
        </p:spPr>
        <p:txBody>
          <a:bodyPr/>
          <a:lstStyle/>
          <a:p>
            <a:pPr fontAlgn="base"/>
            <a:r>
              <a:rPr lang="en-US" sz="2000" dirty="0" smtClean="0"/>
              <a:t>End-of- month Commercial Mortgage Positions for March 2019 can found in the folder:  </a:t>
            </a:r>
            <a:r>
              <a:rPr lang="en-US" sz="2000" b="1" dirty="0">
                <a:latin typeface="Consolas" panose="020B0609020204030204" pitchFamily="49" charset="0"/>
              </a:rPr>
              <a:t>/</a:t>
            </a:r>
            <a:r>
              <a:rPr lang="en-US" sz="2000" b="1" dirty="0" smtClean="0">
                <a:latin typeface="Consolas" panose="020B0609020204030204" pitchFamily="49" charset="0"/>
              </a:rPr>
              <a:t>data/</a:t>
            </a:r>
            <a:r>
              <a:rPr lang="en-US" sz="2000" b="1" dirty="0" err="1" smtClean="0">
                <a:latin typeface="Consolas" panose="020B0609020204030204" pitchFamily="49" charset="0"/>
              </a:rPr>
              <a:t>ordz</a:t>
            </a:r>
            <a:r>
              <a:rPr lang="en-US" sz="2000" b="1" dirty="0" smtClean="0">
                <a:latin typeface="Consolas" panose="020B0609020204030204" pitchFamily="49" charset="0"/>
              </a:rPr>
              <a:t>/coml/posi/20190331</a:t>
            </a:r>
            <a:r>
              <a:rPr lang="en-US" sz="2000" b="1" dirty="0">
                <a:latin typeface="Consolas" panose="020B0609020204030204" pitchFamily="49" charset="0"/>
              </a:rPr>
              <a:t>/ </a:t>
            </a:r>
          </a:p>
          <a:p>
            <a:r>
              <a:rPr lang="en-US" sz="2000" dirty="0" smtClean="0"/>
              <a:t>The folder contains all versions of that data, including all changes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766070" cy="657953"/>
          </a:xfrm>
        </p:spPr>
        <p:txBody>
          <a:bodyPr/>
          <a:lstStyle/>
          <a:p>
            <a:r>
              <a:rPr lang="en-US" dirty="0" smtClean="0"/>
              <a:t>GRID Example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770773"/>
            <a:ext cx="8584184" cy="311037"/>
          </a:xfrm>
        </p:spPr>
        <p:txBody>
          <a:bodyPr/>
          <a:lstStyle/>
          <a:p>
            <a:r>
              <a:rPr lang="en-US" dirty="0" smtClean="0"/>
              <a:t>Defines the Standard Layout for data in Azure Data Lake Storage (ADLS Gen2)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2282" y="2955326"/>
            <a:ext cx="7252826" cy="29413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pPr fontAlgn="base"/>
            <a:r>
              <a:rPr lang="en-US" dirty="0"/>
              <a:t>/data/ </a:t>
            </a:r>
          </a:p>
          <a:p>
            <a:pPr fontAlgn="base"/>
            <a:r>
              <a:rPr lang="en-US" dirty="0"/>
              <a:t>        </a:t>
            </a:r>
            <a:r>
              <a:rPr lang="en-US" dirty="0" err="1"/>
              <a:t>ordz</a:t>
            </a:r>
            <a:r>
              <a:rPr lang="en-US" dirty="0"/>
              <a:t>/ </a:t>
            </a:r>
          </a:p>
          <a:p>
            <a:pPr fontAlgn="base"/>
            <a:r>
              <a:rPr lang="en-US" dirty="0"/>
              <a:t>            coml/ </a:t>
            </a:r>
          </a:p>
          <a:p>
            <a:pPr fontAlgn="base"/>
            <a:r>
              <a:rPr lang="en-US" dirty="0"/>
              <a:t>                 </a:t>
            </a:r>
            <a:r>
              <a:rPr lang="en-US" dirty="0" smtClean="0"/>
              <a:t>posi/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                     20190331/ </a:t>
            </a:r>
            <a:endParaRPr lang="en-US" dirty="0" smtClean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                              </a:t>
            </a:r>
            <a:r>
              <a:rPr lang="en-US" b="1" dirty="0" smtClean="0"/>
              <a:t>coml_posi_amer_20190331_m_20190331_223000.json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                              </a:t>
            </a:r>
            <a:r>
              <a:rPr lang="en-US" b="1" dirty="0" smtClean="0"/>
              <a:t>coml_posi_amer_20190331_m_20190401_090000_update.json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 </a:t>
            </a:r>
            <a:r>
              <a:rPr lang="en-US" b="1" dirty="0" smtClean="0"/>
              <a:t>                             coml_posi_amer_20190331_m_20190402_163000.json</a:t>
            </a:r>
            <a:endParaRPr lang="en-US" dirty="0"/>
          </a:p>
          <a:p>
            <a:pPr fontAlgn="base"/>
            <a:endParaRPr lang="en-US" dirty="0"/>
          </a:p>
          <a:p>
            <a:endParaRPr lang="en-US" sz="1600" dirty="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71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1693" y="1207479"/>
            <a:ext cx="8229600" cy="926121"/>
          </a:xfrm>
        </p:spPr>
        <p:txBody>
          <a:bodyPr/>
          <a:lstStyle/>
          <a:p>
            <a:r>
              <a:rPr lang="en-US" sz="2000" dirty="0" smtClean="0"/>
              <a:t>The folder contains all versions of that data, including all changes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766070" cy="657953"/>
          </a:xfrm>
        </p:spPr>
        <p:txBody>
          <a:bodyPr/>
          <a:lstStyle/>
          <a:p>
            <a:r>
              <a:rPr lang="en-US" dirty="0" smtClean="0"/>
              <a:t>GRID Example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770773"/>
            <a:ext cx="8584184" cy="311037"/>
          </a:xfrm>
        </p:spPr>
        <p:txBody>
          <a:bodyPr/>
          <a:lstStyle/>
          <a:p>
            <a:r>
              <a:rPr lang="en-US" dirty="0" smtClean="0"/>
              <a:t>Defines the Standard Layout for data in Azure Data Lake Storage (ADLS Gen2)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2282" y="2955326"/>
            <a:ext cx="7252826" cy="29413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pPr fontAlgn="base"/>
            <a:r>
              <a:rPr lang="en-US" dirty="0"/>
              <a:t>/data/ </a:t>
            </a:r>
          </a:p>
          <a:p>
            <a:pPr fontAlgn="base"/>
            <a:r>
              <a:rPr lang="en-US" dirty="0"/>
              <a:t>        </a:t>
            </a:r>
            <a:r>
              <a:rPr lang="en-US" dirty="0" err="1"/>
              <a:t>ordz</a:t>
            </a:r>
            <a:r>
              <a:rPr lang="en-US" dirty="0"/>
              <a:t>/ </a:t>
            </a:r>
          </a:p>
          <a:p>
            <a:pPr fontAlgn="base"/>
            <a:r>
              <a:rPr lang="en-US" dirty="0"/>
              <a:t>            coml/ </a:t>
            </a:r>
          </a:p>
          <a:p>
            <a:pPr fontAlgn="base"/>
            <a:r>
              <a:rPr lang="en-US" dirty="0"/>
              <a:t>                 </a:t>
            </a:r>
            <a:r>
              <a:rPr lang="en-US" dirty="0" smtClean="0"/>
              <a:t>posi/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                     20190331/ </a:t>
            </a:r>
            <a:endParaRPr lang="en-US" dirty="0" smtClean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                              </a:t>
            </a:r>
            <a:r>
              <a:rPr lang="en-US" b="1" dirty="0" smtClean="0"/>
              <a:t>coml_posi_amer_20190331_m_20190331_223000.json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                              </a:t>
            </a:r>
            <a:r>
              <a:rPr lang="en-US" b="1" dirty="0" smtClean="0"/>
              <a:t>coml_posi_amer_20190331_m_20190401_090000_update.json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 </a:t>
            </a:r>
            <a:r>
              <a:rPr lang="en-US" b="1" dirty="0" smtClean="0"/>
              <a:t>                             coml_posi_amer_20190331_m_20190402_163000.json</a:t>
            </a:r>
            <a:endParaRPr lang="en-US" dirty="0"/>
          </a:p>
          <a:p>
            <a:pPr fontAlgn="base"/>
            <a:endParaRPr lang="en-US" dirty="0"/>
          </a:p>
          <a:p>
            <a:endParaRPr lang="en-US" sz="1600" dirty="0" smtClean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68769" y="4232031"/>
            <a:ext cx="4677508" cy="398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04646" y="1811298"/>
            <a:ext cx="4466492" cy="8959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The first file is the end-of-month payload delivered on March 31 at 22:30 (UTC)</a:t>
            </a:r>
          </a:p>
        </p:txBody>
      </p:sp>
      <p:cxnSp>
        <p:nvCxnSpPr>
          <p:cNvPr id="10" name="Straight Arrow Connector 9"/>
          <p:cNvCxnSpPr>
            <a:stCxn id="9" idx="2"/>
            <a:endCxn id="8" idx="0"/>
          </p:cNvCxnSpPr>
          <p:nvPr/>
        </p:nvCxnSpPr>
        <p:spPr>
          <a:xfrm>
            <a:off x="4237892" y="2707239"/>
            <a:ext cx="269631" cy="1524792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12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1693" y="1207479"/>
            <a:ext cx="8229600" cy="926121"/>
          </a:xfrm>
        </p:spPr>
        <p:txBody>
          <a:bodyPr/>
          <a:lstStyle/>
          <a:p>
            <a:r>
              <a:rPr lang="en-US" sz="2000" dirty="0" smtClean="0"/>
              <a:t>The folder contains all versions of that data, including all changes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766070" cy="657953"/>
          </a:xfrm>
        </p:spPr>
        <p:txBody>
          <a:bodyPr/>
          <a:lstStyle/>
          <a:p>
            <a:r>
              <a:rPr lang="en-US" dirty="0" smtClean="0"/>
              <a:t>GRID Example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770773"/>
            <a:ext cx="8584184" cy="311037"/>
          </a:xfrm>
        </p:spPr>
        <p:txBody>
          <a:bodyPr/>
          <a:lstStyle/>
          <a:p>
            <a:r>
              <a:rPr lang="en-US" dirty="0" smtClean="0"/>
              <a:t>Defines the Standard Layout for data in Azure Data Lake Storage (ADLS Gen2)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2282" y="2955326"/>
            <a:ext cx="7252826" cy="29413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pPr fontAlgn="base"/>
            <a:r>
              <a:rPr lang="en-US" dirty="0"/>
              <a:t>/data/ </a:t>
            </a:r>
          </a:p>
          <a:p>
            <a:pPr fontAlgn="base"/>
            <a:r>
              <a:rPr lang="en-US" dirty="0"/>
              <a:t>        </a:t>
            </a:r>
            <a:r>
              <a:rPr lang="en-US" dirty="0" err="1"/>
              <a:t>ordz</a:t>
            </a:r>
            <a:r>
              <a:rPr lang="en-US" dirty="0"/>
              <a:t>/ </a:t>
            </a:r>
          </a:p>
          <a:p>
            <a:pPr fontAlgn="base"/>
            <a:r>
              <a:rPr lang="en-US" dirty="0"/>
              <a:t>            coml/ </a:t>
            </a:r>
          </a:p>
          <a:p>
            <a:pPr fontAlgn="base"/>
            <a:r>
              <a:rPr lang="en-US" dirty="0"/>
              <a:t>                 </a:t>
            </a:r>
            <a:r>
              <a:rPr lang="en-US" dirty="0" smtClean="0"/>
              <a:t>posi/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                     20190331/ </a:t>
            </a:r>
            <a:endParaRPr lang="en-US" dirty="0" smtClean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                              </a:t>
            </a:r>
            <a:r>
              <a:rPr lang="en-US" b="1" dirty="0" smtClean="0"/>
              <a:t>coml_posi_amer_20190331_m_20190331_223000.json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                              </a:t>
            </a:r>
            <a:r>
              <a:rPr lang="en-US" b="1" dirty="0" smtClean="0"/>
              <a:t>coml_posi_amer_20190331_m_20190401_090000_update.json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 </a:t>
            </a:r>
            <a:r>
              <a:rPr lang="en-US" b="1" dirty="0" smtClean="0"/>
              <a:t>                             coml_posi_amer_20190331_m_20190402_163000.json</a:t>
            </a:r>
            <a:endParaRPr lang="en-US" dirty="0"/>
          </a:p>
          <a:p>
            <a:pPr fontAlgn="base"/>
            <a:endParaRPr lang="en-US" dirty="0"/>
          </a:p>
          <a:p>
            <a:endParaRPr lang="en-US" sz="1600" dirty="0" smtClean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67611" y="4642338"/>
            <a:ext cx="5540665" cy="398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04646" y="1811298"/>
            <a:ext cx="4466492" cy="8959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The second file is a correction file delivered the next day, April 1 at 9:00 (UTC)</a:t>
            </a:r>
          </a:p>
        </p:txBody>
      </p:sp>
      <p:cxnSp>
        <p:nvCxnSpPr>
          <p:cNvPr id="10" name="Straight Arrow Connector 9"/>
          <p:cNvCxnSpPr>
            <a:stCxn id="9" idx="2"/>
            <a:endCxn id="8" idx="0"/>
          </p:cNvCxnSpPr>
          <p:nvPr/>
        </p:nvCxnSpPr>
        <p:spPr>
          <a:xfrm>
            <a:off x="4237892" y="2707239"/>
            <a:ext cx="600052" cy="1935099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25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1693" y="1207479"/>
            <a:ext cx="8229600" cy="926121"/>
          </a:xfrm>
        </p:spPr>
        <p:txBody>
          <a:bodyPr/>
          <a:lstStyle/>
          <a:p>
            <a:r>
              <a:rPr lang="en-US" sz="2000" dirty="0" smtClean="0"/>
              <a:t>The folder contains all versions of that data, including all changes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766070" cy="657953"/>
          </a:xfrm>
        </p:spPr>
        <p:txBody>
          <a:bodyPr/>
          <a:lstStyle/>
          <a:p>
            <a:r>
              <a:rPr lang="en-US" dirty="0" smtClean="0"/>
              <a:t>GRID Example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770773"/>
            <a:ext cx="8584184" cy="311037"/>
          </a:xfrm>
        </p:spPr>
        <p:txBody>
          <a:bodyPr/>
          <a:lstStyle/>
          <a:p>
            <a:r>
              <a:rPr lang="en-US" dirty="0" smtClean="0"/>
              <a:t>Defines the Standard Layout for data in Azure Data Lake Storage (ADLS Gen2)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2282" y="2955326"/>
            <a:ext cx="7252826" cy="29413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pPr fontAlgn="base"/>
            <a:r>
              <a:rPr lang="en-US" dirty="0"/>
              <a:t>/data/ </a:t>
            </a:r>
          </a:p>
          <a:p>
            <a:pPr fontAlgn="base"/>
            <a:r>
              <a:rPr lang="en-US" dirty="0"/>
              <a:t>        </a:t>
            </a:r>
            <a:r>
              <a:rPr lang="en-US" dirty="0" err="1"/>
              <a:t>ordz</a:t>
            </a:r>
            <a:r>
              <a:rPr lang="en-US" dirty="0"/>
              <a:t>/ </a:t>
            </a:r>
          </a:p>
          <a:p>
            <a:pPr fontAlgn="base"/>
            <a:r>
              <a:rPr lang="en-US" dirty="0"/>
              <a:t>            coml/ </a:t>
            </a:r>
          </a:p>
          <a:p>
            <a:pPr fontAlgn="base"/>
            <a:r>
              <a:rPr lang="en-US" dirty="0"/>
              <a:t>                 </a:t>
            </a:r>
            <a:r>
              <a:rPr lang="en-US" dirty="0" smtClean="0"/>
              <a:t>posi/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                     20190331/ </a:t>
            </a:r>
            <a:endParaRPr lang="en-US" dirty="0" smtClean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                              </a:t>
            </a:r>
            <a:r>
              <a:rPr lang="en-US" b="1" dirty="0" smtClean="0"/>
              <a:t>coml_posi_amer_20190331_m_20190331_223000.json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                              </a:t>
            </a:r>
            <a:r>
              <a:rPr lang="en-US" b="1" dirty="0" smtClean="0"/>
              <a:t>coml_posi_amer_20190331_m_20190401_090000_update.json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 </a:t>
            </a:r>
            <a:r>
              <a:rPr lang="en-US" b="1" dirty="0" smtClean="0"/>
              <a:t>                             coml_posi_amer_20190331_m_20190402_163000.json</a:t>
            </a:r>
            <a:endParaRPr lang="en-US" dirty="0"/>
          </a:p>
          <a:p>
            <a:pPr fontAlgn="base"/>
            <a:endParaRPr lang="en-US" dirty="0"/>
          </a:p>
          <a:p>
            <a:endParaRPr lang="en-US" sz="1600" dirty="0" smtClean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67611" y="5064367"/>
            <a:ext cx="4895897" cy="398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04646" y="1811298"/>
            <a:ext cx="4958862" cy="8959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The third file is full replacement of the March month-end file delivered on April 2 at 16:30 (UTC)</a:t>
            </a:r>
          </a:p>
        </p:txBody>
      </p:sp>
      <p:cxnSp>
        <p:nvCxnSpPr>
          <p:cNvPr id="10" name="Straight Arrow Connector 9"/>
          <p:cNvCxnSpPr>
            <a:stCxn id="9" idx="2"/>
          </p:cNvCxnSpPr>
          <p:nvPr/>
        </p:nvCxnSpPr>
        <p:spPr>
          <a:xfrm>
            <a:off x="4484077" y="2707239"/>
            <a:ext cx="146538" cy="2357128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22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1693" y="1207479"/>
            <a:ext cx="8229600" cy="926121"/>
          </a:xfrm>
        </p:spPr>
        <p:txBody>
          <a:bodyPr/>
          <a:lstStyle/>
          <a:p>
            <a:r>
              <a:rPr lang="en-US" sz="2000" dirty="0" smtClean="0"/>
              <a:t>Depending on when you consume the ORDZ Data, you may get different results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766070" cy="657953"/>
          </a:xfrm>
        </p:spPr>
        <p:txBody>
          <a:bodyPr/>
          <a:lstStyle/>
          <a:p>
            <a:r>
              <a:rPr lang="en-US" dirty="0" smtClean="0"/>
              <a:t>Logic for consuming ORDZ Files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770773"/>
            <a:ext cx="8584184" cy="311037"/>
          </a:xfrm>
        </p:spPr>
        <p:txBody>
          <a:bodyPr/>
          <a:lstStyle/>
          <a:p>
            <a:r>
              <a:rPr lang="en-US" dirty="0" smtClean="0"/>
              <a:t>data depends on the “point in time” that you consume it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97074" y="2775241"/>
            <a:ext cx="5575780" cy="19466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pPr fontAlgn="base"/>
            <a:r>
              <a:rPr lang="en-US" b="1" dirty="0" smtClean="0"/>
              <a:t>coml_posi_amer_20190331_m_20190331_223000.json</a:t>
            </a:r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b="1" dirty="0" smtClean="0"/>
              <a:t>coml_posi_amer_20190331_m_20190401_090000_update.json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 smtClean="0"/>
              <a:t>coml_posi_amer_20190331_m_20190402_163000.json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213231" y="1692445"/>
            <a:ext cx="2635802" cy="1248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600" dirty="0" smtClean="0"/>
              <a:t>Reading the ORDZ after Mar-31 22:30 and before Apr-1 09:00</a:t>
            </a:r>
          </a:p>
          <a:p>
            <a:r>
              <a:rPr lang="en-US" sz="1600" dirty="0" smtClean="0"/>
              <a:t>Returns the </a:t>
            </a:r>
            <a:r>
              <a:rPr lang="en-US" sz="1600" b="1" dirty="0" smtClean="0"/>
              <a:t>initial data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3231" y="3286469"/>
            <a:ext cx="2635802" cy="15306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600" dirty="0" smtClean="0"/>
              <a:t>Reading the ORDZ after Apr-1 09:00 and before Apr-2 </a:t>
            </a:r>
            <a:r>
              <a:rPr lang="en-US" sz="1600" dirty="0"/>
              <a:t>16:30</a:t>
            </a:r>
          </a:p>
          <a:p>
            <a:r>
              <a:rPr lang="en-US" sz="1600" dirty="0" smtClean="0"/>
              <a:t>Combines </a:t>
            </a:r>
            <a:r>
              <a:rPr lang="en-US" sz="1600" b="1" dirty="0" smtClean="0"/>
              <a:t>both</a:t>
            </a:r>
            <a:r>
              <a:rPr lang="en-US" sz="1600" dirty="0" smtClean="0"/>
              <a:t> initial file and update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3231" y="5174199"/>
            <a:ext cx="2635802" cy="12411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600" dirty="0" smtClean="0"/>
              <a:t>Reading the ORDZ after Apr-2 16:30</a:t>
            </a:r>
            <a:endParaRPr lang="en-US" sz="1600" dirty="0"/>
          </a:p>
          <a:p>
            <a:r>
              <a:rPr lang="en-US" sz="1600" dirty="0" smtClean="0"/>
              <a:t>Returns just the </a:t>
            </a:r>
            <a:r>
              <a:rPr lang="en-US" sz="1600" b="1" dirty="0" smtClean="0"/>
              <a:t>final data file</a:t>
            </a:r>
          </a:p>
        </p:txBody>
      </p:sp>
      <p:cxnSp>
        <p:nvCxnSpPr>
          <p:cNvPr id="13" name="Straight Arrow Connector 12"/>
          <p:cNvCxnSpPr>
            <a:stCxn id="9" idx="1"/>
          </p:cNvCxnSpPr>
          <p:nvPr/>
        </p:nvCxnSpPr>
        <p:spPr>
          <a:xfrm flipH="1">
            <a:off x="4982309" y="2316856"/>
            <a:ext cx="1230922" cy="981532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1"/>
          </p:cNvCxnSpPr>
          <p:nvPr/>
        </p:nvCxnSpPr>
        <p:spPr>
          <a:xfrm flipH="1" flipV="1">
            <a:off x="5591908" y="3426232"/>
            <a:ext cx="621323" cy="625541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1"/>
          </p:cNvCxnSpPr>
          <p:nvPr/>
        </p:nvCxnSpPr>
        <p:spPr>
          <a:xfrm flipH="1" flipV="1">
            <a:off x="5591908" y="3856892"/>
            <a:ext cx="621323" cy="194881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2" idx="1"/>
          </p:cNvCxnSpPr>
          <p:nvPr/>
        </p:nvCxnSpPr>
        <p:spPr>
          <a:xfrm flipH="1" flipV="1">
            <a:off x="4982309" y="4302371"/>
            <a:ext cx="1230922" cy="1492400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37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20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GRID Data Framework (GDF)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45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5368" y="97249"/>
            <a:ext cx="8579007" cy="842623"/>
          </a:xfrm>
        </p:spPr>
        <p:txBody>
          <a:bodyPr/>
          <a:lstStyle/>
          <a:p>
            <a:r>
              <a:rPr lang="en-US" dirty="0" smtClean="0"/>
              <a:t>GRID DataFrames – a layered approach to making data available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724" y="895881"/>
            <a:ext cx="5193322" cy="578439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29" y="2338101"/>
            <a:ext cx="1277074" cy="224703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589682" y="3214189"/>
            <a:ext cx="698624" cy="398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661647" y="2970072"/>
            <a:ext cx="843372" cy="398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595170" y="3214189"/>
            <a:ext cx="843372" cy="398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818275" y="2509987"/>
            <a:ext cx="843372" cy="398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3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158" y="204829"/>
            <a:ext cx="8530458" cy="657953"/>
          </a:xfrm>
        </p:spPr>
        <p:txBody>
          <a:bodyPr/>
          <a:lstStyle/>
          <a:p>
            <a:r>
              <a:rPr lang="en-US" sz="2400" dirty="0" smtClean="0"/>
              <a:t>GRID Dataframe Framework </a:t>
            </a:r>
            <a:endParaRPr lang="en-US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 edit go to: Insert &gt; Header and Footer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398771" y="1986075"/>
            <a:ext cx="679355" cy="629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Extract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98771" y="2929408"/>
            <a:ext cx="679355" cy="629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Extract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9262" y="1986075"/>
            <a:ext cx="737223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1436" y="1986075"/>
            <a:ext cx="806611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Translate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4100" y="2930163"/>
            <a:ext cx="679355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Join &amp; Select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0946" y="2930163"/>
            <a:ext cx="748019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Aggregate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5078" y="2930163"/>
            <a:ext cx="584371" cy="62939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Load</a:t>
            </a:r>
          </a:p>
        </p:txBody>
      </p:sp>
      <p:cxnSp>
        <p:nvCxnSpPr>
          <p:cNvPr id="14" name="Straight Arrow Connector 13"/>
          <p:cNvCxnSpPr>
            <a:stCxn id="6" idx="3"/>
            <a:endCxn id="8" idx="1"/>
          </p:cNvCxnSpPr>
          <p:nvPr/>
        </p:nvCxnSpPr>
        <p:spPr>
          <a:xfrm>
            <a:off x="2078126" y="2300771"/>
            <a:ext cx="351136" cy="0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>
          <a:xfrm>
            <a:off x="3166485" y="2300771"/>
            <a:ext cx="264951" cy="0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3"/>
            <a:endCxn id="10" idx="0"/>
          </p:cNvCxnSpPr>
          <p:nvPr/>
        </p:nvCxnSpPr>
        <p:spPr>
          <a:xfrm>
            <a:off x="4238047" y="2300771"/>
            <a:ext cx="415731" cy="629392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  <a:endCxn id="11" idx="1"/>
          </p:cNvCxnSpPr>
          <p:nvPr/>
        </p:nvCxnSpPr>
        <p:spPr>
          <a:xfrm>
            <a:off x="4993455" y="3244859"/>
            <a:ext cx="257491" cy="0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6" idx="3"/>
            <a:endCxn id="12" idx="1"/>
          </p:cNvCxnSpPr>
          <p:nvPr/>
        </p:nvCxnSpPr>
        <p:spPr>
          <a:xfrm>
            <a:off x="6768171" y="3244858"/>
            <a:ext cx="246907" cy="1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429262" y="2929408"/>
            <a:ext cx="737223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Override</a:t>
            </a:r>
          </a:p>
        </p:txBody>
      </p:sp>
      <p:cxnSp>
        <p:nvCxnSpPr>
          <p:cNvPr id="28" name="Straight Arrow Connector 27"/>
          <p:cNvCxnSpPr>
            <a:stCxn id="7" idx="3"/>
            <a:endCxn id="27" idx="1"/>
          </p:cNvCxnSpPr>
          <p:nvPr/>
        </p:nvCxnSpPr>
        <p:spPr>
          <a:xfrm>
            <a:off x="2078126" y="3244104"/>
            <a:ext cx="351136" cy="0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7" idx="3"/>
            <a:endCxn id="10" idx="1"/>
          </p:cNvCxnSpPr>
          <p:nvPr/>
        </p:nvCxnSpPr>
        <p:spPr>
          <a:xfrm>
            <a:off x="3166485" y="3244104"/>
            <a:ext cx="1147615" cy="755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Magnetic Disk 49"/>
          <p:cNvSpPr/>
          <p:nvPr/>
        </p:nvSpPr>
        <p:spPr>
          <a:xfrm>
            <a:off x="8110911" y="2882661"/>
            <a:ext cx="616695" cy="724395"/>
          </a:xfrm>
          <a:prstGeom prst="flowChartMagneticDisk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DOS</a:t>
            </a:r>
          </a:p>
        </p:txBody>
      </p:sp>
      <p:cxnSp>
        <p:nvCxnSpPr>
          <p:cNvPr id="51" name="Straight Arrow Connector 50"/>
          <p:cNvCxnSpPr>
            <a:stCxn id="12" idx="3"/>
            <a:endCxn id="50" idx="2"/>
          </p:cNvCxnSpPr>
          <p:nvPr/>
        </p:nvCxnSpPr>
        <p:spPr>
          <a:xfrm>
            <a:off x="7599449" y="3244859"/>
            <a:ext cx="511462" cy="0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69158" y="1828800"/>
            <a:ext cx="431486" cy="847107"/>
          </a:xfrm>
          <a:prstGeom prst="rect">
            <a:avLst/>
          </a:prstGeom>
          <a:noFill/>
        </p:spPr>
        <p:txBody>
          <a:bodyPr wrap="square" lIns="91440" tIns="0" rIns="91440" bIns="0" rtlCol="0">
            <a:noAutofit/>
          </a:bodyPr>
          <a:lstStyle/>
          <a:p>
            <a:endParaRPr lang="en-US" sz="2200" dirty="0"/>
          </a:p>
        </p:txBody>
      </p:sp>
      <p:sp>
        <p:nvSpPr>
          <p:cNvPr id="55" name="TextBox 54"/>
          <p:cNvSpPr txBox="1"/>
          <p:nvPr/>
        </p:nvSpPr>
        <p:spPr>
          <a:xfrm>
            <a:off x="285010" y="1997950"/>
            <a:ext cx="451262" cy="617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800" dirty="0"/>
              <a:t>asset mast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010" y="2941283"/>
            <a:ext cx="451262" cy="617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800" dirty="0"/>
              <a:t>loan </a:t>
            </a:r>
            <a:r>
              <a:rPr lang="en-US" sz="800" dirty="0" err="1"/>
              <a:t>pos</a:t>
            </a:r>
            <a:endParaRPr lang="en-US" sz="800" dirty="0"/>
          </a:p>
        </p:txBody>
      </p:sp>
      <p:cxnSp>
        <p:nvCxnSpPr>
          <p:cNvPr id="57" name="Straight Arrow Connector 56"/>
          <p:cNvCxnSpPr>
            <a:stCxn id="55" idx="3"/>
            <a:endCxn id="6" idx="1"/>
          </p:cNvCxnSpPr>
          <p:nvPr/>
        </p:nvCxnSpPr>
        <p:spPr>
          <a:xfrm flipV="1">
            <a:off x="736272" y="2300771"/>
            <a:ext cx="662499" cy="5938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6" idx="3"/>
            <a:endCxn id="7" idx="1"/>
          </p:cNvCxnSpPr>
          <p:nvPr/>
        </p:nvCxnSpPr>
        <p:spPr>
          <a:xfrm flipV="1">
            <a:off x="736272" y="3244104"/>
            <a:ext cx="662499" cy="5938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210871" y="2930162"/>
            <a:ext cx="557300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Format</a:t>
            </a:r>
          </a:p>
        </p:txBody>
      </p:sp>
      <p:cxnSp>
        <p:nvCxnSpPr>
          <p:cNvPr id="67" name="Straight Arrow Connector 66"/>
          <p:cNvCxnSpPr>
            <a:stCxn id="11" idx="3"/>
            <a:endCxn id="66" idx="1"/>
          </p:cNvCxnSpPr>
          <p:nvPr/>
        </p:nvCxnSpPr>
        <p:spPr>
          <a:xfrm flipV="1">
            <a:off x="5998965" y="3244858"/>
            <a:ext cx="211906" cy="1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22898" y="1130962"/>
            <a:ext cx="1108726" cy="653472"/>
          </a:xfrm>
          <a:prstGeom prst="rect">
            <a:avLst/>
          </a:prstGeom>
          <a:noFill/>
        </p:spPr>
        <p:txBody>
          <a:bodyPr wrap="square" lIns="91440" tIns="0" rIns="91440" bIns="0" rtlCol="0">
            <a:noAutofit/>
          </a:bodyPr>
          <a:lstStyle/>
          <a:p>
            <a:pPr algn="ctr"/>
            <a:r>
              <a:rPr lang="en-US" sz="2000" dirty="0" smtClean="0"/>
              <a:t>ORDZ</a:t>
            </a:r>
            <a:endParaRPr lang="en-US" sz="2000" dirty="0"/>
          </a:p>
          <a:p>
            <a:pPr algn="ctr"/>
            <a:r>
              <a:rPr lang="en-US" sz="2000" dirty="0"/>
              <a:t>files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533076" y="982820"/>
            <a:ext cx="5922476" cy="411018"/>
          </a:xfrm>
          <a:prstGeom prst="rect">
            <a:avLst/>
          </a:prstGeom>
          <a:noFill/>
        </p:spPr>
        <p:txBody>
          <a:bodyPr wrap="square" lIns="91440" tIns="0" rIns="91440" bIns="0" rtlCol="0">
            <a:noAutofit/>
          </a:bodyPr>
          <a:lstStyle/>
          <a:p>
            <a:pPr algn="ctr"/>
            <a:r>
              <a:rPr lang="en-US" sz="2200" dirty="0" smtClean="0"/>
              <a:t>ETL via layers of dataframes</a:t>
            </a:r>
            <a:endParaRPr lang="en-US" sz="2200" dirty="0"/>
          </a:p>
        </p:txBody>
      </p:sp>
      <p:sp>
        <p:nvSpPr>
          <p:cNvPr id="120" name="TextBox 119"/>
          <p:cNvSpPr txBox="1"/>
          <p:nvPr/>
        </p:nvSpPr>
        <p:spPr>
          <a:xfrm>
            <a:off x="7841244" y="1252189"/>
            <a:ext cx="1038797" cy="764180"/>
          </a:xfrm>
          <a:prstGeom prst="rect">
            <a:avLst/>
          </a:prstGeom>
          <a:noFill/>
        </p:spPr>
        <p:txBody>
          <a:bodyPr wrap="square" lIns="91440" tIns="0" rIns="91440" bIns="0" rtlCol="0">
            <a:noAutofit/>
          </a:bodyPr>
          <a:lstStyle/>
          <a:p>
            <a:pPr algn="ctr"/>
            <a:r>
              <a:rPr lang="en-US" sz="2000" dirty="0"/>
              <a:t>Target</a:t>
            </a:r>
          </a:p>
        </p:txBody>
      </p:sp>
      <p:cxnSp>
        <p:nvCxnSpPr>
          <p:cNvPr id="122" name="Straight Connector 121"/>
          <p:cNvCxnSpPr/>
          <p:nvPr/>
        </p:nvCxnSpPr>
        <p:spPr>
          <a:xfrm>
            <a:off x="1102096" y="1033153"/>
            <a:ext cx="0" cy="473825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>
            <a:off x="7804193" y="1033152"/>
            <a:ext cx="0" cy="473825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32380" y="4808916"/>
            <a:ext cx="1412135" cy="10839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These are ORDZ Dataframes</a:t>
            </a:r>
          </a:p>
        </p:txBody>
      </p:sp>
      <p:cxnSp>
        <p:nvCxnSpPr>
          <p:cNvPr id="36" name="Straight Arrow Connector 35"/>
          <p:cNvCxnSpPr>
            <a:stCxn id="35" idx="0"/>
            <a:endCxn id="7" idx="2"/>
          </p:cNvCxnSpPr>
          <p:nvPr/>
        </p:nvCxnSpPr>
        <p:spPr>
          <a:xfrm flipV="1">
            <a:off x="1738448" y="3558800"/>
            <a:ext cx="1" cy="1250116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07325" y="4808916"/>
            <a:ext cx="2965937" cy="10839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These are GDF Derived Dataframes</a:t>
            </a:r>
          </a:p>
        </p:txBody>
      </p:sp>
      <p:cxnSp>
        <p:nvCxnSpPr>
          <p:cNvPr id="42" name="Straight Arrow Connector 41"/>
          <p:cNvCxnSpPr>
            <a:stCxn id="41" idx="0"/>
          </p:cNvCxnSpPr>
          <p:nvPr/>
        </p:nvCxnSpPr>
        <p:spPr>
          <a:xfrm flipH="1" flipV="1">
            <a:off x="3080866" y="3607056"/>
            <a:ext cx="1309428" cy="1201860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1" idx="0"/>
          </p:cNvCxnSpPr>
          <p:nvPr/>
        </p:nvCxnSpPr>
        <p:spPr>
          <a:xfrm flipV="1">
            <a:off x="4390294" y="3559555"/>
            <a:ext cx="0" cy="1249361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1" idx="0"/>
          </p:cNvCxnSpPr>
          <p:nvPr/>
        </p:nvCxnSpPr>
        <p:spPr>
          <a:xfrm flipV="1">
            <a:off x="4390294" y="3607056"/>
            <a:ext cx="1452048" cy="1201860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424246" y="4788044"/>
            <a:ext cx="1686665" cy="10839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This is an App Notebook</a:t>
            </a:r>
          </a:p>
        </p:txBody>
      </p:sp>
      <p:cxnSp>
        <p:nvCxnSpPr>
          <p:cNvPr id="53" name="Straight Arrow Connector 52"/>
          <p:cNvCxnSpPr>
            <a:stCxn id="52" idx="0"/>
          </p:cNvCxnSpPr>
          <p:nvPr/>
        </p:nvCxnSpPr>
        <p:spPr>
          <a:xfrm flipV="1">
            <a:off x="7267579" y="3537928"/>
            <a:ext cx="24468" cy="1250116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16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2728" y="204829"/>
            <a:ext cx="7792410" cy="657953"/>
          </a:xfrm>
        </p:spPr>
        <p:txBody>
          <a:bodyPr/>
          <a:lstStyle/>
          <a:p>
            <a:r>
              <a:rPr lang="en-US" dirty="0" smtClean="0"/>
              <a:t>GRID Data Framework - overview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724" y="895881"/>
            <a:ext cx="5193322" cy="57843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29" y="2338101"/>
            <a:ext cx="1277074" cy="22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9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2728" y="204829"/>
            <a:ext cx="7792410" cy="657953"/>
          </a:xfrm>
        </p:spPr>
        <p:txBody>
          <a:bodyPr/>
          <a:lstStyle/>
          <a:p>
            <a:r>
              <a:rPr lang="en-US" dirty="0" smtClean="0"/>
              <a:t>ORDZ Data – source system data files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724" y="895881"/>
            <a:ext cx="5193322" cy="57843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16877" y="1989681"/>
            <a:ext cx="1241432" cy="44256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3550" y="901417"/>
            <a:ext cx="1993327" cy="9761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These are the raw data files produced by the source </a:t>
            </a:r>
            <a:r>
              <a:rPr lang="en-US" sz="1600" b="1" dirty="0" err="1" smtClean="0"/>
              <a:t>systes</a:t>
            </a:r>
            <a:endParaRPr lang="en-US" sz="1600" b="1" dirty="0" smtClean="0"/>
          </a:p>
        </p:txBody>
      </p:sp>
      <p:cxnSp>
        <p:nvCxnSpPr>
          <p:cNvPr id="9" name="Straight Arrow Connector 8"/>
          <p:cNvCxnSpPr>
            <a:stCxn id="8" idx="2"/>
            <a:endCxn id="7" idx="1"/>
          </p:cNvCxnSpPr>
          <p:nvPr/>
        </p:nvCxnSpPr>
        <p:spPr>
          <a:xfrm>
            <a:off x="1220214" y="1820934"/>
            <a:ext cx="996663" cy="1248891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29" y="2338101"/>
            <a:ext cx="1277074" cy="22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1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158" y="204829"/>
            <a:ext cx="8581765" cy="657953"/>
          </a:xfrm>
        </p:spPr>
        <p:txBody>
          <a:bodyPr/>
          <a:lstStyle/>
          <a:p>
            <a:r>
              <a:rPr lang="en-US" dirty="0" smtClean="0"/>
              <a:t>ORDZ DataFrames – created automatically from ORDZ Data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724" y="895881"/>
            <a:ext cx="5193322" cy="57843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774831" y="2508737"/>
            <a:ext cx="830150" cy="39066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3550" y="2952572"/>
            <a:ext cx="1993327" cy="879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These are the ORDZ Dataframes</a:t>
            </a:r>
          </a:p>
        </p:txBody>
      </p:sp>
      <p:cxnSp>
        <p:nvCxnSpPr>
          <p:cNvPr id="9" name="Straight Arrow Connector 8"/>
          <p:cNvCxnSpPr>
            <a:stCxn id="8" idx="3"/>
          </p:cNvCxnSpPr>
          <p:nvPr/>
        </p:nvCxnSpPr>
        <p:spPr>
          <a:xfrm>
            <a:off x="2216877" y="3392108"/>
            <a:ext cx="1522348" cy="58346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8" idx="1"/>
          </p:cNvCxnSpPr>
          <p:nvPr/>
        </p:nvCxnSpPr>
        <p:spPr>
          <a:xfrm flipH="1" flipV="1">
            <a:off x="5861538" y="5509846"/>
            <a:ext cx="996058" cy="227116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7596" y="4993640"/>
            <a:ext cx="1993327" cy="1486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ORDZ Dataframes are automatically created, based on meta-data in the GDF Registry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29" y="2338101"/>
            <a:ext cx="1277074" cy="22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7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Derived DataFrames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706" y="895881"/>
            <a:ext cx="5193322" cy="57843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04980" y="2309446"/>
            <a:ext cx="1795819" cy="20280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1532" y="2497241"/>
            <a:ext cx="2074174" cy="10900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These are the Derived Dataframes</a:t>
            </a:r>
          </a:p>
        </p:txBody>
      </p:sp>
      <p:cxnSp>
        <p:nvCxnSpPr>
          <p:cNvPr id="9" name="Straight Arrow Connector 8"/>
          <p:cNvCxnSpPr>
            <a:stCxn id="8" idx="3"/>
            <a:endCxn id="7" idx="1"/>
          </p:cNvCxnSpPr>
          <p:nvPr/>
        </p:nvCxnSpPr>
        <p:spPr>
          <a:xfrm>
            <a:off x="2335706" y="3042243"/>
            <a:ext cx="2269274" cy="281249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98444" y="4783015"/>
            <a:ext cx="2074174" cy="14536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The Registry describes how one dataframe is derived from others</a:t>
            </a:r>
          </a:p>
        </p:txBody>
      </p:sp>
      <p:cxnSp>
        <p:nvCxnSpPr>
          <p:cNvPr id="20" name="Straight Arrow Connector 19"/>
          <p:cNvCxnSpPr>
            <a:stCxn id="16" idx="1"/>
          </p:cNvCxnSpPr>
          <p:nvPr/>
        </p:nvCxnSpPr>
        <p:spPr>
          <a:xfrm flipH="1" flipV="1">
            <a:off x="6002215" y="5478584"/>
            <a:ext cx="796229" cy="31262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29" y="2338101"/>
            <a:ext cx="1277074" cy="22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68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 Notebooks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724" y="895881"/>
            <a:ext cx="5193322" cy="57843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15692" y="2309446"/>
            <a:ext cx="1175354" cy="22977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3550" y="1738872"/>
            <a:ext cx="2074174" cy="3454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These are the App Notebooks</a:t>
            </a:r>
          </a:p>
          <a:p>
            <a:pPr algn="ctr"/>
            <a:endParaRPr lang="en-US" sz="1600" b="1" dirty="0"/>
          </a:p>
          <a:p>
            <a:pPr algn="ctr"/>
            <a:r>
              <a:rPr lang="en-US" sz="1600" b="1" dirty="0" smtClean="0"/>
              <a:t>App Notebooks are the last layer of Notebooks</a:t>
            </a:r>
          </a:p>
          <a:p>
            <a:pPr algn="ctr"/>
            <a:endParaRPr lang="en-US" sz="1600" b="1" dirty="0"/>
          </a:p>
          <a:p>
            <a:pPr algn="ctr"/>
            <a:r>
              <a:rPr lang="en-US" sz="1600" b="1" dirty="0" smtClean="0"/>
              <a:t>An App Notebook’s job is to consume GRID Dataframes and then deliver the result to a target.</a:t>
            </a:r>
          </a:p>
        </p:txBody>
      </p:sp>
      <p:cxnSp>
        <p:nvCxnSpPr>
          <p:cNvPr id="9" name="Straight Arrow Connector 8"/>
          <p:cNvCxnSpPr>
            <a:stCxn id="8" idx="3"/>
            <a:endCxn id="7" idx="1"/>
          </p:cNvCxnSpPr>
          <p:nvPr/>
        </p:nvCxnSpPr>
        <p:spPr>
          <a:xfrm flipV="1">
            <a:off x="2297724" y="3458308"/>
            <a:ext cx="4017968" cy="7790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29" y="2338101"/>
            <a:ext cx="1277074" cy="22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46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3" y="998116"/>
            <a:ext cx="6602575" cy="3401253"/>
          </a:xfrm>
        </p:spPr>
        <p:txBody>
          <a:bodyPr/>
          <a:lstStyle/>
          <a:p>
            <a:r>
              <a:rPr lang="en-US" dirty="0" smtClean="0"/>
              <a:t>GRID Data Framework Registry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28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2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GRID Data Framework Registry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42969" y="1052292"/>
            <a:ext cx="8253046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8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GDF Registry maintains information about: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ORDZ dataframes -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 are dataframes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that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are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created automatically from the data in the RDZ, whenever one attempts to retrieve the dataframe.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Derived dataframes -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are dataframes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that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are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created by a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notebook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by consuming data from other dataframes, and then using that data to produce a new dataframe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</a:rPr>
              <a:t>App </a:t>
            </a:r>
            <a:r>
              <a:rPr lang="en-US" sz="2000" i="1" dirty="0" smtClean="0">
                <a:latin typeface="Calibri" panose="020F0502020204030204" pitchFamily="34" charset="0"/>
                <a:ea typeface="Calibri" panose="020F0502020204030204" pitchFamily="34" charset="0"/>
              </a:rPr>
              <a:t>notebooks -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are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those notebooks that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teams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would develop in order to access the data in either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ORDZ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dataframes and/or derived dataframes in order to produce a result that can be delivered to another target and for another purpose .   App notebooks will not be allowed to create dataframes that other apps are  able to consume.  If an app has a desire to create a dataframe that might be sharable with other apps, then that capability should be promoted to a derived dataframe.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962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ORDZ Dataframe Registry entry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42969" y="1052292"/>
            <a:ext cx="82530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8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09600" y="1313902"/>
            <a:ext cx="774720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Calibri" panose="020F0502020204030204" pitchFamily="34" charset="0"/>
                <a:ea typeface="Calibri" panose="020F0502020204030204" pitchFamily="34" charset="0"/>
              </a:rPr>
              <a:t>ordz_registry.json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would contain meta-data defining the RDZ dataframes with these attributes: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"name" - name that will be used to access the dataframe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“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</a:rPr>
              <a:t>ordz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 - is an object specifying the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dataClass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 &amp;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dataSetType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“keys” – a list of those attributes that would be consider the keys that together would uniquely identify the records in the data set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"description" - provides a readable description of the dataframe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Here is an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exampe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 {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     "name":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coml_asmt_df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",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    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“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</a:rPr>
              <a:t>ordz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": {"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dataClass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":"coml",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dataSetType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":"asmt"},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     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description": "commercial mortgage loan asset master data"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 },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9585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Derived Dataframe Registry entry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42969" y="1052292"/>
            <a:ext cx="82530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8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09600" y="1313902"/>
            <a:ext cx="774720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</a:rPr>
              <a:t>ddf_registry.json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would contain meta-data defining the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derived dataframes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Each entry would be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json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object containing these parameters: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"name" - name that will be used to access the dataframe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dependsOn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 - the list of dataframes that this derived dataframe depends on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"notebook" - see below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"description" - provides a readable description of the dataframe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Example: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 {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     "name":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coml_asmt_posi_df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",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     "notebook":"/Shared/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dff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ordz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coml_asmt_posi_df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",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    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dependsOn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": ["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coml_asmt_df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",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coml_posi_df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"],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             "description": "commercial loan positions joined with loan asset master"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 }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"notebook" is the full path to the notebook which when run will create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teh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dataframe.  This item replaces "job", as I felt we should be explicit that the program that materializes the dataframe is a notebook, vs something else.  Someday we could have perhaps jobs, or python functions, that can be run outside of a notebook.</a:t>
            </a:r>
          </a:p>
        </p:txBody>
      </p:sp>
    </p:spTree>
    <p:extLst>
      <p:ext uri="{BB962C8B-B14F-4D97-AF65-F5344CB8AC3E}">
        <p14:creationId xmlns:p14="http://schemas.microsoft.com/office/powerpoint/2010/main" val="44351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 Notebook Registry entry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42969" y="1052292"/>
            <a:ext cx="82530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8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09600" y="1313902"/>
            <a:ext cx="774720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</a:rPr>
              <a:t>app_registry.json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would hold meta-data defining application notebooks.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"name" - unique name of the notebook - would be used in logs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etc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"notebook" - full path to the notebook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dependsOn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 - list of dataframes names that this notebook depends on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Example: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 {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     "name":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load_asmt_posi_to_dos_nb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",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     "notebook":"/Shared/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dff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ordz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/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load_asmt_posi_to_dos_nb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",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    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dependsOn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": ["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coml_asmt_posi_df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"],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     "description": "notebook will load commercial loan positions and asset master data to DOS into the collection XYZ"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   }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having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explicit app registry will allow us to have full knowledge of how applications are consuming dataframes, which will be based on the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dependsOn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" attribute.</a:t>
            </a:r>
          </a:p>
        </p:txBody>
      </p:sp>
    </p:spTree>
    <p:extLst>
      <p:ext uri="{BB962C8B-B14F-4D97-AF65-F5344CB8AC3E}">
        <p14:creationId xmlns:p14="http://schemas.microsoft.com/office/powerpoint/2010/main" val="177776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0308" y="1410680"/>
            <a:ext cx="8475784" cy="42810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Provides a standard pattern for developing GRID 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Automatically creates Dataframes to consume data from GRID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Automatically applies data adjustments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Automatically </a:t>
            </a:r>
            <a:r>
              <a:rPr lang="en-US" dirty="0" smtClean="0"/>
              <a:t>applies domain value translations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Automatically persists curated data in Data Lake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Enables time-travel view of data from any point in </a:t>
            </a:r>
            <a:r>
              <a:rPr lang="en-US" dirty="0" smtClean="0"/>
              <a:t>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Registry makes all data dependencies &amp; all data lineage explicit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the GDF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51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158" y="204829"/>
            <a:ext cx="8530458" cy="657953"/>
          </a:xfrm>
        </p:spPr>
        <p:txBody>
          <a:bodyPr/>
          <a:lstStyle/>
          <a:p>
            <a:r>
              <a:rPr lang="en-US" sz="2400" dirty="0"/>
              <a:t>GRID Dataframe Framework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 edit go to: Insert &gt; Header and Footer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398771" y="1986075"/>
            <a:ext cx="679355" cy="629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Extract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98771" y="2929408"/>
            <a:ext cx="679355" cy="629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Extract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9262" y="1986075"/>
            <a:ext cx="737223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8481" y="5065959"/>
            <a:ext cx="806611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Translate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23857" y="2940677"/>
            <a:ext cx="679355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Join &amp; Select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6717" y="2941666"/>
            <a:ext cx="748019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Aggregate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5078" y="2930163"/>
            <a:ext cx="584371" cy="62939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Load</a:t>
            </a:r>
          </a:p>
        </p:txBody>
      </p:sp>
      <p:cxnSp>
        <p:nvCxnSpPr>
          <p:cNvPr id="14" name="Straight Arrow Connector 13"/>
          <p:cNvCxnSpPr>
            <a:stCxn id="6" idx="3"/>
            <a:endCxn id="8" idx="1"/>
          </p:cNvCxnSpPr>
          <p:nvPr/>
        </p:nvCxnSpPr>
        <p:spPr>
          <a:xfrm>
            <a:off x="2078126" y="2300771"/>
            <a:ext cx="351136" cy="0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10" idx="0"/>
          </p:cNvCxnSpPr>
          <p:nvPr/>
        </p:nvCxnSpPr>
        <p:spPr>
          <a:xfrm>
            <a:off x="3166485" y="2300771"/>
            <a:ext cx="897050" cy="639906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3"/>
            <a:endCxn id="10" idx="2"/>
          </p:cNvCxnSpPr>
          <p:nvPr/>
        </p:nvCxnSpPr>
        <p:spPr>
          <a:xfrm flipV="1">
            <a:off x="3295092" y="3570069"/>
            <a:ext cx="768443" cy="1810586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  <a:endCxn id="11" idx="1"/>
          </p:cNvCxnSpPr>
          <p:nvPr/>
        </p:nvCxnSpPr>
        <p:spPr>
          <a:xfrm>
            <a:off x="4403212" y="3255373"/>
            <a:ext cx="333505" cy="989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6" idx="3"/>
            <a:endCxn id="12" idx="1"/>
          </p:cNvCxnSpPr>
          <p:nvPr/>
        </p:nvCxnSpPr>
        <p:spPr>
          <a:xfrm>
            <a:off x="6768171" y="3244858"/>
            <a:ext cx="246907" cy="1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429262" y="2929408"/>
            <a:ext cx="737223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Override</a:t>
            </a:r>
          </a:p>
        </p:txBody>
      </p:sp>
      <p:cxnSp>
        <p:nvCxnSpPr>
          <p:cNvPr id="28" name="Straight Arrow Connector 27"/>
          <p:cNvCxnSpPr>
            <a:stCxn id="7" idx="3"/>
            <a:endCxn id="27" idx="1"/>
          </p:cNvCxnSpPr>
          <p:nvPr/>
        </p:nvCxnSpPr>
        <p:spPr>
          <a:xfrm>
            <a:off x="2078126" y="3244104"/>
            <a:ext cx="351136" cy="0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7" idx="3"/>
            <a:endCxn id="10" idx="1"/>
          </p:cNvCxnSpPr>
          <p:nvPr/>
        </p:nvCxnSpPr>
        <p:spPr>
          <a:xfrm>
            <a:off x="3166485" y="3244104"/>
            <a:ext cx="557372" cy="11269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Magnetic Disk 49"/>
          <p:cNvSpPr/>
          <p:nvPr/>
        </p:nvSpPr>
        <p:spPr>
          <a:xfrm>
            <a:off x="8110911" y="2882661"/>
            <a:ext cx="616695" cy="724395"/>
          </a:xfrm>
          <a:prstGeom prst="flowChartMagneticDisk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DOS</a:t>
            </a:r>
          </a:p>
        </p:txBody>
      </p:sp>
      <p:cxnSp>
        <p:nvCxnSpPr>
          <p:cNvPr id="51" name="Straight Arrow Connector 50"/>
          <p:cNvCxnSpPr>
            <a:stCxn id="12" idx="3"/>
            <a:endCxn id="50" idx="2"/>
          </p:cNvCxnSpPr>
          <p:nvPr/>
        </p:nvCxnSpPr>
        <p:spPr>
          <a:xfrm>
            <a:off x="7599449" y="3244859"/>
            <a:ext cx="511462" cy="0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69158" y="1828800"/>
            <a:ext cx="431486" cy="847107"/>
          </a:xfrm>
          <a:prstGeom prst="rect">
            <a:avLst/>
          </a:prstGeom>
          <a:noFill/>
        </p:spPr>
        <p:txBody>
          <a:bodyPr wrap="square" lIns="91440" tIns="0" rIns="91440" bIns="0" rtlCol="0">
            <a:noAutofit/>
          </a:bodyPr>
          <a:lstStyle/>
          <a:p>
            <a:endParaRPr lang="en-US" sz="2200" dirty="0"/>
          </a:p>
        </p:txBody>
      </p:sp>
      <p:sp>
        <p:nvSpPr>
          <p:cNvPr id="55" name="TextBox 54"/>
          <p:cNvSpPr txBox="1"/>
          <p:nvPr/>
        </p:nvSpPr>
        <p:spPr>
          <a:xfrm>
            <a:off x="285010" y="1997950"/>
            <a:ext cx="451262" cy="617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800" dirty="0"/>
              <a:t>asset mast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010" y="2941283"/>
            <a:ext cx="451262" cy="617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800" dirty="0"/>
              <a:t>loan </a:t>
            </a:r>
            <a:r>
              <a:rPr lang="en-US" sz="800" dirty="0" err="1"/>
              <a:t>pos</a:t>
            </a:r>
            <a:endParaRPr lang="en-US" sz="800" dirty="0"/>
          </a:p>
        </p:txBody>
      </p:sp>
      <p:cxnSp>
        <p:nvCxnSpPr>
          <p:cNvPr id="57" name="Straight Arrow Connector 56"/>
          <p:cNvCxnSpPr>
            <a:stCxn id="55" idx="3"/>
            <a:endCxn id="6" idx="1"/>
          </p:cNvCxnSpPr>
          <p:nvPr/>
        </p:nvCxnSpPr>
        <p:spPr>
          <a:xfrm flipV="1">
            <a:off x="736272" y="2300771"/>
            <a:ext cx="662499" cy="5938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6" idx="3"/>
            <a:endCxn id="7" idx="1"/>
          </p:cNvCxnSpPr>
          <p:nvPr/>
        </p:nvCxnSpPr>
        <p:spPr>
          <a:xfrm flipV="1">
            <a:off x="736272" y="3244104"/>
            <a:ext cx="662499" cy="5938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210871" y="2930162"/>
            <a:ext cx="557300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Format</a:t>
            </a:r>
          </a:p>
        </p:txBody>
      </p:sp>
      <p:cxnSp>
        <p:nvCxnSpPr>
          <p:cNvPr id="67" name="Straight Arrow Connector 66"/>
          <p:cNvCxnSpPr>
            <a:stCxn id="11" idx="3"/>
            <a:endCxn id="66" idx="1"/>
          </p:cNvCxnSpPr>
          <p:nvPr/>
        </p:nvCxnSpPr>
        <p:spPr>
          <a:xfrm flipV="1">
            <a:off x="5484736" y="3244858"/>
            <a:ext cx="726135" cy="11504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22898" y="1130962"/>
            <a:ext cx="1108726" cy="653472"/>
          </a:xfrm>
          <a:prstGeom prst="rect">
            <a:avLst/>
          </a:prstGeom>
          <a:noFill/>
        </p:spPr>
        <p:txBody>
          <a:bodyPr wrap="square" lIns="91440" tIns="0" rIns="91440" bIns="0" rtlCol="0">
            <a:noAutofit/>
          </a:bodyPr>
          <a:lstStyle/>
          <a:p>
            <a:pPr algn="ctr"/>
            <a:r>
              <a:rPr lang="en-US" sz="2000" dirty="0" smtClean="0"/>
              <a:t>ORDZ</a:t>
            </a:r>
            <a:endParaRPr lang="en-US" sz="2000" dirty="0"/>
          </a:p>
          <a:p>
            <a:pPr algn="ctr"/>
            <a:r>
              <a:rPr lang="en-US" sz="2000" dirty="0"/>
              <a:t>files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738448" y="1244502"/>
            <a:ext cx="5607393" cy="411018"/>
          </a:xfrm>
          <a:prstGeom prst="rect">
            <a:avLst/>
          </a:prstGeom>
          <a:noFill/>
        </p:spPr>
        <p:txBody>
          <a:bodyPr wrap="square" lIns="91440" tIns="0" rIns="91440" bIns="0" rtlCol="0">
            <a:noAutofit/>
          </a:bodyPr>
          <a:lstStyle/>
          <a:p>
            <a:pPr algn="ctr"/>
            <a:r>
              <a:rPr lang="en-US" sz="2200" dirty="0"/>
              <a:t>Dataframes </a:t>
            </a:r>
            <a:r>
              <a:rPr lang="en-US" sz="2200" dirty="0" smtClean="0"/>
              <a:t>may share results</a:t>
            </a:r>
            <a:endParaRPr lang="en-US" sz="2200" dirty="0"/>
          </a:p>
        </p:txBody>
      </p:sp>
      <p:sp>
        <p:nvSpPr>
          <p:cNvPr id="120" name="TextBox 119"/>
          <p:cNvSpPr txBox="1"/>
          <p:nvPr/>
        </p:nvSpPr>
        <p:spPr>
          <a:xfrm>
            <a:off x="7841244" y="1252189"/>
            <a:ext cx="1038797" cy="764180"/>
          </a:xfrm>
          <a:prstGeom prst="rect">
            <a:avLst/>
          </a:prstGeom>
          <a:noFill/>
        </p:spPr>
        <p:txBody>
          <a:bodyPr wrap="square" lIns="91440" tIns="0" rIns="91440" bIns="0" rtlCol="0">
            <a:noAutofit/>
          </a:bodyPr>
          <a:lstStyle/>
          <a:p>
            <a:pPr algn="ctr"/>
            <a:r>
              <a:rPr lang="en-US" sz="2000" dirty="0"/>
              <a:t>Target</a:t>
            </a:r>
          </a:p>
        </p:txBody>
      </p:sp>
      <p:cxnSp>
        <p:nvCxnSpPr>
          <p:cNvPr id="122" name="Straight Connector 121"/>
          <p:cNvCxnSpPr/>
          <p:nvPr/>
        </p:nvCxnSpPr>
        <p:spPr>
          <a:xfrm>
            <a:off x="1102096" y="1033153"/>
            <a:ext cx="0" cy="473825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>
            <a:off x="7804193" y="1033152"/>
            <a:ext cx="0" cy="473825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398771" y="5081575"/>
            <a:ext cx="679355" cy="629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Extract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5010" y="5093450"/>
            <a:ext cx="451262" cy="617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800" dirty="0"/>
              <a:t>other </a:t>
            </a:r>
            <a:r>
              <a:rPr lang="en-US" sz="800" dirty="0" err="1"/>
              <a:t>asst</a:t>
            </a:r>
            <a:endParaRPr lang="en-US" sz="800" dirty="0"/>
          </a:p>
        </p:txBody>
      </p:sp>
      <p:cxnSp>
        <p:nvCxnSpPr>
          <p:cNvPr id="64" name="Straight Arrow Connector 63"/>
          <p:cNvCxnSpPr>
            <a:stCxn id="63" idx="3"/>
            <a:endCxn id="58" idx="1"/>
          </p:cNvCxnSpPr>
          <p:nvPr/>
        </p:nvCxnSpPr>
        <p:spPr>
          <a:xfrm flipV="1">
            <a:off x="736272" y="5396271"/>
            <a:ext cx="662499" cy="5938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145058" y="4003814"/>
            <a:ext cx="679355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Filter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5110725" y="5380656"/>
            <a:ext cx="748019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Aggregate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23550" y="4003814"/>
            <a:ext cx="584371" cy="62939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Load</a:t>
            </a:r>
          </a:p>
        </p:txBody>
      </p:sp>
      <p:cxnSp>
        <p:nvCxnSpPr>
          <p:cNvPr id="70" name="Straight Arrow Connector 69"/>
          <p:cNvCxnSpPr>
            <a:stCxn id="65" idx="3"/>
            <a:endCxn id="74" idx="1"/>
          </p:cNvCxnSpPr>
          <p:nvPr/>
        </p:nvCxnSpPr>
        <p:spPr>
          <a:xfrm flipV="1">
            <a:off x="5824413" y="4318509"/>
            <a:ext cx="394930" cy="1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74" idx="3"/>
            <a:endCxn id="69" idx="1"/>
          </p:cNvCxnSpPr>
          <p:nvPr/>
        </p:nvCxnSpPr>
        <p:spPr>
          <a:xfrm>
            <a:off x="6776643" y="4318509"/>
            <a:ext cx="246907" cy="1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lowchart: Magnetic Disk 71"/>
          <p:cNvSpPr/>
          <p:nvPr/>
        </p:nvSpPr>
        <p:spPr>
          <a:xfrm>
            <a:off x="8119383" y="3956312"/>
            <a:ext cx="616695" cy="724395"/>
          </a:xfrm>
          <a:prstGeom prst="flowChartMagneticDisk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DOS</a:t>
            </a:r>
          </a:p>
        </p:txBody>
      </p:sp>
      <p:cxnSp>
        <p:nvCxnSpPr>
          <p:cNvPr id="73" name="Straight Arrow Connector 72"/>
          <p:cNvCxnSpPr>
            <a:stCxn id="69" idx="3"/>
            <a:endCxn id="72" idx="2"/>
          </p:cNvCxnSpPr>
          <p:nvPr/>
        </p:nvCxnSpPr>
        <p:spPr>
          <a:xfrm>
            <a:off x="7607921" y="4318510"/>
            <a:ext cx="511462" cy="0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6219343" y="4003813"/>
            <a:ext cx="557300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Format</a:t>
            </a:r>
          </a:p>
        </p:txBody>
      </p:sp>
      <p:cxnSp>
        <p:nvCxnSpPr>
          <p:cNvPr id="75" name="Straight Arrow Connector 74"/>
          <p:cNvCxnSpPr>
            <a:stCxn id="68" idx="3"/>
            <a:endCxn id="91" idx="1"/>
          </p:cNvCxnSpPr>
          <p:nvPr/>
        </p:nvCxnSpPr>
        <p:spPr>
          <a:xfrm flipV="1">
            <a:off x="5858744" y="5695351"/>
            <a:ext cx="360599" cy="1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11" idx="2"/>
            <a:endCxn id="65" idx="0"/>
          </p:cNvCxnSpPr>
          <p:nvPr/>
        </p:nvCxnSpPr>
        <p:spPr>
          <a:xfrm>
            <a:off x="5110727" y="3571058"/>
            <a:ext cx="374009" cy="432756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023550" y="5380656"/>
            <a:ext cx="584371" cy="62939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Load</a:t>
            </a:r>
          </a:p>
        </p:txBody>
      </p:sp>
      <p:cxnSp>
        <p:nvCxnSpPr>
          <p:cNvPr id="88" name="Straight Arrow Connector 87"/>
          <p:cNvCxnSpPr>
            <a:stCxn id="91" idx="3"/>
            <a:endCxn id="87" idx="1"/>
          </p:cNvCxnSpPr>
          <p:nvPr/>
        </p:nvCxnSpPr>
        <p:spPr>
          <a:xfrm>
            <a:off x="6776643" y="5695351"/>
            <a:ext cx="246907" cy="1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Flowchart: Magnetic Disk 88"/>
          <p:cNvSpPr/>
          <p:nvPr/>
        </p:nvSpPr>
        <p:spPr>
          <a:xfrm>
            <a:off x="8119383" y="5333154"/>
            <a:ext cx="616695" cy="724395"/>
          </a:xfrm>
          <a:prstGeom prst="flowChartMagneticDisk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DOS</a:t>
            </a:r>
          </a:p>
        </p:txBody>
      </p:sp>
      <p:cxnSp>
        <p:nvCxnSpPr>
          <p:cNvPr id="90" name="Straight Arrow Connector 89"/>
          <p:cNvCxnSpPr>
            <a:stCxn id="87" idx="3"/>
            <a:endCxn id="89" idx="2"/>
          </p:cNvCxnSpPr>
          <p:nvPr/>
        </p:nvCxnSpPr>
        <p:spPr>
          <a:xfrm>
            <a:off x="7607921" y="5695352"/>
            <a:ext cx="511462" cy="0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6219343" y="5380655"/>
            <a:ext cx="557300" cy="629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Format</a:t>
            </a:r>
          </a:p>
        </p:txBody>
      </p:sp>
      <p:cxnSp>
        <p:nvCxnSpPr>
          <p:cNvPr id="100" name="Straight Arrow Connector 99"/>
          <p:cNvCxnSpPr>
            <a:stCxn id="58" idx="3"/>
            <a:endCxn id="9" idx="1"/>
          </p:cNvCxnSpPr>
          <p:nvPr/>
        </p:nvCxnSpPr>
        <p:spPr>
          <a:xfrm flipV="1">
            <a:off x="2078126" y="5380655"/>
            <a:ext cx="410355" cy="15616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9" idx="3"/>
            <a:endCxn id="68" idx="1"/>
          </p:cNvCxnSpPr>
          <p:nvPr/>
        </p:nvCxnSpPr>
        <p:spPr>
          <a:xfrm>
            <a:off x="3295092" y="5380655"/>
            <a:ext cx="1815633" cy="314697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1378018" y="4012722"/>
            <a:ext cx="679355" cy="629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Extract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64257" y="4024597"/>
            <a:ext cx="451262" cy="617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800" dirty="0" err="1" smtClean="0"/>
              <a:t>trsl</a:t>
            </a:r>
            <a:endParaRPr lang="en-US" sz="800" dirty="0"/>
          </a:p>
        </p:txBody>
      </p:sp>
      <p:cxnSp>
        <p:nvCxnSpPr>
          <p:cNvPr id="114" name="Straight Arrow Connector 113"/>
          <p:cNvCxnSpPr>
            <a:stCxn id="113" idx="3"/>
            <a:endCxn id="112" idx="1"/>
          </p:cNvCxnSpPr>
          <p:nvPr/>
        </p:nvCxnSpPr>
        <p:spPr>
          <a:xfrm flipV="1">
            <a:off x="715519" y="4327418"/>
            <a:ext cx="662499" cy="5938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112" idx="3"/>
            <a:endCxn id="9" idx="0"/>
          </p:cNvCxnSpPr>
          <p:nvPr/>
        </p:nvCxnSpPr>
        <p:spPr>
          <a:xfrm>
            <a:off x="2057373" y="4327418"/>
            <a:ext cx="834414" cy="738541"/>
          </a:xfrm>
          <a:prstGeom prst="straightConnector1">
            <a:avLst/>
          </a:prstGeom>
          <a:ln w="22225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98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ORDZ Dataframes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Used to make it easy to consume data from the GRID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35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41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3508" y="1119173"/>
            <a:ext cx="8581720" cy="5053407"/>
          </a:xfrm>
        </p:spPr>
        <p:txBody>
          <a:bodyPr/>
          <a:lstStyle/>
          <a:p>
            <a:r>
              <a:rPr lang="en-US" dirty="0" smtClean="0"/>
              <a:t>Example ORDZ DataFrame Registry definitions:</a:t>
            </a:r>
          </a:p>
          <a:p>
            <a:pPr marL="473869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Definition of Commercial Loan Asset Master DataFrame</a:t>
            </a:r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473869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Definition of Commercial Loan Positions Dataframe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ORDZ DataFrame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r>
              <a:rPr lang="en-US" dirty="0" smtClean="0"/>
              <a:t>automatically created using registry meta-data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16743" y="2267280"/>
            <a:ext cx="6482860" cy="1378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latin typeface="Consolas" panose="020B0609020204030204" pitchFamily="49" charset="0"/>
              </a:rPr>
              <a:t>"</a:t>
            </a:r>
            <a:r>
              <a:rPr lang="en-US" sz="1600" dirty="0">
                <a:latin typeface="Consolas" panose="020B0609020204030204" pitchFamily="49" charset="0"/>
              </a:rPr>
              <a:t>name": "</a:t>
            </a:r>
            <a:r>
              <a:rPr lang="en-US" sz="1600" dirty="0" err="1">
                <a:latin typeface="Consolas" panose="020B0609020204030204" pitchFamily="49" charset="0"/>
              </a:rPr>
              <a:t>coml_asmt_df</a:t>
            </a:r>
            <a:r>
              <a:rPr lang="en-US" sz="16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latin typeface="Consolas" panose="020B0609020204030204" pitchFamily="49" charset="0"/>
              </a:rPr>
              <a:t>“</a:t>
            </a:r>
            <a:r>
              <a:rPr lang="en-US" sz="1600" dirty="0" err="1" smtClean="0">
                <a:latin typeface="Consolas" panose="020B0609020204030204" pitchFamily="49" charset="0"/>
              </a:rPr>
              <a:t>ordz</a:t>
            </a:r>
            <a:r>
              <a:rPr lang="en-US" sz="1600" dirty="0">
                <a:latin typeface="Consolas" panose="020B0609020204030204" pitchFamily="49" charset="0"/>
              </a:rPr>
              <a:t>": </a:t>
            </a:r>
            <a:r>
              <a:rPr lang="en-US" sz="1600" dirty="0" smtClean="0">
                <a:latin typeface="Consolas" panose="020B0609020204030204" pitchFamily="49" charset="0"/>
              </a:rPr>
              <a:t>{“</a:t>
            </a:r>
            <a:r>
              <a:rPr lang="en-US" sz="1600" dirty="0" err="1" smtClean="0">
                <a:latin typeface="Consolas" panose="020B0609020204030204" pitchFamily="49" charset="0"/>
              </a:rPr>
              <a:t>dataClass</a:t>
            </a:r>
            <a:r>
              <a:rPr lang="en-US" sz="1600" dirty="0">
                <a:latin typeface="Consolas" panose="020B0609020204030204" pitchFamily="49" charset="0"/>
              </a:rPr>
              <a:t>":"coml", </a:t>
            </a:r>
            <a:r>
              <a:rPr lang="en-US" sz="1600" dirty="0" smtClean="0">
                <a:latin typeface="Consolas" panose="020B0609020204030204" pitchFamily="49" charset="0"/>
              </a:rPr>
              <a:t>"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dataSetType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":"</a:t>
            </a:r>
            <a:r>
              <a:rPr lang="en-US" sz="1600" dirty="0">
                <a:latin typeface="Consolas" panose="020B0609020204030204" pitchFamily="49" charset="0"/>
              </a:rPr>
              <a:t>asmt</a:t>
            </a:r>
            <a:r>
              <a:rPr lang="en-US" sz="1600" dirty="0" smtClean="0">
                <a:latin typeface="Consolas" panose="020B0609020204030204" pitchFamily="49" charset="0"/>
              </a:rPr>
              <a:t>"},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"</a:t>
            </a:r>
            <a:r>
              <a:rPr lang="en-US" sz="1600" dirty="0">
                <a:latin typeface="Consolas" panose="020B0609020204030204" pitchFamily="49" charset="0"/>
              </a:rPr>
              <a:t>description": </a:t>
            </a:r>
            <a:r>
              <a:rPr lang="en-US" sz="1600" dirty="0" smtClean="0">
                <a:latin typeface="Consolas" panose="020B0609020204030204" pitchFamily="49" charset="0"/>
              </a:rPr>
              <a:t>“Commercial Loan </a:t>
            </a:r>
            <a:r>
              <a:rPr lang="en-US" sz="1600" dirty="0">
                <a:latin typeface="Consolas" panose="020B0609020204030204" pitchFamily="49" charset="0"/>
              </a:rPr>
              <a:t>asset master data"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266" y="4428235"/>
            <a:ext cx="6482860" cy="15739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latin typeface="Consolas" panose="020B0609020204030204" pitchFamily="49" charset="0"/>
              </a:rPr>
              <a:t>"</a:t>
            </a:r>
            <a:r>
              <a:rPr lang="en-US" sz="1600" dirty="0">
                <a:latin typeface="Consolas" panose="020B0609020204030204" pitchFamily="49" charset="0"/>
              </a:rPr>
              <a:t>name": "</a:t>
            </a:r>
            <a:r>
              <a:rPr lang="en-US" sz="1600" dirty="0" err="1" smtClean="0">
                <a:latin typeface="Consolas" panose="020B0609020204030204" pitchFamily="49" charset="0"/>
              </a:rPr>
              <a:t>coml_posi_df</a:t>
            </a:r>
            <a:r>
              <a:rPr lang="en-US" sz="16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“</a:t>
            </a:r>
            <a:r>
              <a:rPr lang="en-US" sz="1600" dirty="0" err="1" smtClean="0">
                <a:latin typeface="Consolas" panose="020B0609020204030204" pitchFamily="49" charset="0"/>
              </a:rPr>
              <a:t>ordz</a:t>
            </a:r>
            <a:r>
              <a:rPr lang="en-US" sz="1600" dirty="0" smtClean="0">
                <a:latin typeface="Consolas" panose="020B0609020204030204" pitchFamily="49" charset="0"/>
              </a:rPr>
              <a:t>": {“</a:t>
            </a:r>
            <a:r>
              <a:rPr lang="en-US" sz="1600" dirty="0" err="1">
                <a:latin typeface="Consolas" panose="020B0609020204030204" pitchFamily="49" charset="0"/>
              </a:rPr>
              <a:t>d</a:t>
            </a:r>
            <a:r>
              <a:rPr lang="en-US" sz="1600" dirty="0" err="1" smtClean="0">
                <a:latin typeface="Consolas" panose="020B0609020204030204" pitchFamily="49" charset="0"/>
              </a:rPr>
              <a:t>ataClass</a:t>
            </a:r>
            <a:r>
              <a:rPr lang="en-US" sz="1600" dirty="0" smtClean="0">
                <a:latin typeface="Consolas" panose="020B0609020204030204" pitchFamily="49" charset="0"/>
              </a:rPr>
              <a:t>":"coml", “</a:t>
            </a:r>
            <a:r>
              <a:rPr lang="en-US" sz="1600" dirty="0" err="1" smtClean="0">
                <a:latin typeface="Consolas" panose="020B0609020204030204" pitchFamily="49" charset="0"/>
              </a:rPr>
              <a:t>dataSetType</a:t>
            </a:r>
            <a:r>
              <a:rPr lang="en-US" sz="1600" dirty="0" smtClean="0">
                <a:latin typeface="Consolas" panose="020B0609020204030204" pitchFamily="49" charset="0"/>
              </a:rPr>
              <a:t>":“posi"},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"description": “Commercial Loan Positions data"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21063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3508" y="1119173"/>
            <a:ext cx="8581720" cy="5053407"/>
          </a:xfrm>
        </p:spPr>
        <p:txBody>
          <a:bodyPr/>
          <a:lstStyle/>
          <a:p>
            <a:r>
              <a:rPr lang="en-US" dirty="0" smtClean="0"/>
              <a:t>Example ORDZ DataFrame Registry definitions:</a:t>
            </a:r>
          </a:p>
          <a:p>
            <a:pPr marL="473869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Definition of Commercial Loan Asset Master DataFrame</a:t>
            </a:r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473869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Definition of Commercial Loan Positions Dataframe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ORDZ DataFrames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r>
              <a:rPr lang="en-US" dirty="0" smtClean="0"/>
              <a:t>automatically created using registry meta-data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16743" y="2267280"/>
            <a:ext cx="6482860" cy="1378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latin typeface="Consolas" panose="020B0609020204030204" pitchFamily="49" charset="0"/>
              </a:rPr>
              <a:t>"</a:t>
            </a:r>
            <a:r>
              <a:rPr lang="en-US" sz="1600" dirty="0">
                <a:latin typeface="Consolas" panose="020B0609020204030204" pitchFamily="49" charset="0"/>
              </a:rPr>
              <a:t>name": "</a:t>
            </a:r>
            <a:r>
              <a:rPr lang="en-US" sz="1600" dirty="0" err="1">
                <a:latin typeface="Consolas" panose="020B0609020204030204" pitchFamily="49" charset="0"/>
              </a:rPr>
              <a:t>coml_asmt_df</a:t>
            </a:r>
            <a:r>
              <a:rPr lang="en-US" sz="16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latin typeface="Consolas" panose="020B0609020204030204" pitchFamily="49" charset="0"/>
              </a:rPr>
              <a:t>“</a:t>
            </a:r>
            <a:r>
              <a:rPr lang="en-US" sz="1600" dirty="0" err="1" smtClean="0">
                <a:latin typeface="Consolas" panose="020B0609020204030204" pitchFamily="49" charset="0"/>
              </a:rPr>
              <a:t>ordz</a:t>
            </a:r>
            <a:r>
              <a:rPr lang="en-US" sz="1600" dirty="0">
                <a:latin typeface="Consolas" panose="020B0609020204030204" pitchFamily="49" charset="0"/>
              </a:rPr>
              <a:t>": </a:t>
            </a:r>
            <a:r>
              <a:rPr lang="en-US" sz="1600" dirty="0" smtClean="0">
                <a:latin typeface="Consolas" panose="020B0609020204030204" pitchFamily="49" charset="0"/>
              </a:rPr>
              <a:t>{“</a:t>
            </a:r>
            <a:r>
              <a:rPr lang="en-US" sz="1600" dirty="0" err="1" smtClean="0">
                <a:latin typeface="Consolas" panose="020B0609020204030204" pitchFamily="49" charset="0"/>
              </a:rPr>
              <a:t>dataClass</a:t>
            </a:r>
            <a:r>
              <a:rPr lang="en-US" sz="1600" dirty="0">
                <a:latin typeface="Consolas" panose="020B0609020204030204" pitchFamily="49" charset="0"/>
              </a:rPr>
              <a:t>":"coml", </a:t>
            </a:r>
            <a:r>
              <a:rPr lang="en-US" sz="1600" dirty="0" smtClean="0">
                <a:latin typeface="Consolas" panose="020B0609020204030204" pitchFamily="49" charset="0"/>
              </a:rPr>
              <a:t>"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dataSetType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":"</a:t>
            </a:r>
            <a:r>
              <a:rPr lang="en-US" sz="1600" dirty="0">
                <a:latin typeface="Consolas" panose="020B0609020204030204" pitchFamily="49" charset="0"/>
              </a:rPr>
              <a:t>asmt</a:t>
            </a:r>
            <a:r>
              <a:rPr lang="en-US" sz="1600" dirty="0" smtClean="0">
                <a:latin typeface="Consolas" panose="020B0609020204030204" pitchFamily="49" charset="0"/>
              </a:rPr>
              <a:t>"},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"</a:t>
            </a:r>
            <a:r>
              <a:rPr lang="en-US" sz="1600" dirty="0">
                <a:latin typeface="Consolas" panose="020B0609020204030204" pitchFamily="49" charset="0"/>
              </a:rPr>
              <a:t>description": </a:t>
            </a:r>
            <a:r>
              <a:rPr lang="en-US" sz="1600" dirty="0" smtClean="0">
                <a:latin typeface="Consolas" panose="020B0609020204030204" pitchFamily="49" charset="0"/>
              </a:rPr>
              <a:t>“Commercial Loan </a:t>
            </a:r>
            <a:r>
              <a:rPr lang="en-US" sz="1600" dirty="0">
                <a:latin typeface="Consolas" panose="020B0609020204030204" pitchFamily="49" charset="0"/>
              </a:rPr>
              <a:t>asset master data"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266" y="4428235"/>
            <a:ext cx="6482860" cy="15739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latin typeface="Consolas" panose="020B0609020204030204" pitchFamily="49" charset="0"/>
              </a:rPr>
              <a:t>"</a:t>
            </a:r>
            <a:r>
              <a:rPr lang="en-US" sz="1600" dirty="0">
                <a:latin typeface="Consolas" panose="020B0609020204030204" pitchFamily="49" charset="0"/>
              </a:rPr>
              <a:t>name": "</a:t>
            </a:r>
            <a:r>
              <a:rPr lang="en-US" sz="1600" dirty="0" err="1" smtClean="0">
                <a:latin typeface="Consolas" panose="020B0609020204030204" pitchFamily="49" charset="0"/>
              </a:rPr>
              <a:t>coml_posi_df</a:t>
            </a:r>
            <a:r>
              <a:rPr lang="en-US" sz="16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“</a:t>
            </a:r>
            <a:r>
              <a:rPr lang="en-US" sz="1600" dirty="0" err="1" smtClean="0">
                <a:latin typeface="Consolas" panose="020B0609020204030204" pitchFamily="49" charset="0"/>
              </a:rPr>
              <a:t>ordz</a:t>
            </a:r>
            <a:r>
              <a:rPr lang="en-US" sz="1600" dirty="0" smtClean="0">
                <a:latin typeface="Consolas" panose="020B0609020204030204" pitchFamily="49" charset="0"/>
              </a:rPr>
              <a:t>": {“</a:t>
            </a:r>
            <a:r>
              <a:rPr lang="en-US" sz="1600" dirty="0" err="1">
                <a:latin typeface="Consolas" panose="020B0609020204030204" pitchFamily="49" charset="0"/>
              </a:rPr>
              <a:t>d</a:t>
            </a:r>
            <a:r>
              <a:rPr lang="en-US" sz="1600" dirty="0" err="1" smtClean="0">
                <a:latin typeface="Consolas" panose="020B0609020204030204" pitchFamily="49" charset="0"/>
              </a:rPr>
              <a:t>ataClass</a:t>
            </a:r>
            <a:r>
              <a:rPr lang="en-US" sz="1600" dirty="0" smtClean="0">
                <a:latin typeface="Consolas" panose="020B0609020204030204" pitchFamily="49" charset="0"/>
              </a:rPr>
              <a:t>":"coml", “</a:t>
            </a:r>
            <a:r>
              <a:rPr lang="en-US" sz="1600" dirty="0" err="1" smtClean="0">
                <a:latin typeface="Consolas" panose="020B0609020204030204" pitchFamily="49" charset="0"/>
              </a:rPr>
              <a:t>dataSetType</a:t>
            </a:r>
            <a:r>
              <a:rPr lang="en-US" sz="1600" dirty="0" smtClean="0">
                <a:latin typeface="Consolas" panose="020B0609020204030204" pitchFamily="49" charset="0"/>
              </a:rPr>
              <a:t>":“posi"},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"description": “Commercial Loan Positions data"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0836" y="2821763"/>
            <a:ext cx="723226" cy="300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568376" y="2821763"/>
            <a:ext cx="723226" cy="300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655479" y="2567354"/>
            <a:ext cx="1517935" cy="2544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6" idx="2"/>
          </p:cNvCxnSpPr>
          <p:nvPr/>
        </p:nvCxnSpPr>
        <p:spPr>
          <a:xfrm flipH="1">
            <a:off x="4600446" y="1464598"/>
            <a:ext cx="2608370" cy="1348154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60830" y="597877"/>
            <a:ext cx="2295971" cy="866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This specifies where to find the data in the GRID</a:t>
            </a:r>
          </a:p>
        </p:txBody>
      </p:sp>
      <p:cxnSp>
        <p:nvCxnSpPr>
          <p:cNvPr id="21" name="Straight Arrow Connector 20"/>
          <p:cNvCxnSpPr>
            <a:stCxn id="16" idx="2"/>
            <a:endCxn id="10" idx="0"/>
          </p:cNvCxnSpPr>
          <p:nvPr/>
        </p:nvCxnSpPr>
        <p:spPr>
          <a:xfrm flipH="1">
            <a:off x="6929989" y="1464598"/>
            <a:ext cx="278827" cy="1357165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33042" y="166105"/>
            <a:ext cx="1993327" cy="6341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This is the name of the DataFrame</a:t>
            </a:r>
          </a:p>
        </p:txBody>
      </p:sp>
      <p:cxnSp>
        <p:nvCxnSpPr>
          <p:cNvPr id="25" name="Straight Arrow Connector 24"/>
          <p:cNvCxnSpPr>
            <a:stCxn id="24" idx="2"/>
            <a:endCxn id="11" idx="0"/>
          </p:cNvCxnSpPr>
          <p:nvPr/>
        </p:nvCxnSpPr>
        <p:spPr>
          <a:xfrm flipH="1">
            <a:off x="3414447" y="800291"/>
            <a:ext cx="1415259" cy="1767063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98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Derived Dataframes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The result of combining dataframes together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38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64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5559" y="3405174"/>
            <a:ext cx="8581720" cy="1179366"/>
          </a:xfrm>
        </p:spPr>
        <p:txBody>
          <a:bodyPr/>
          <a:lstStyle/>
          <a:p>
            <a:r>
              <a:rPr lang="en-US" dirty="0" smtClean="0"/>
              <a:t>Example Derived DataFrame Registry definitions:</a:t>
            </a:r>
          </a:p>
          <a:p>
            <a:pPr marL="473869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Definition of Asset Position DataFrame</a:t>
            </a:r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lvl="1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Derived DataFrames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r>
              <a:rPr lang="en-US" dirty="0" smtClean="0"/>
              <a:t>registry meta-data defines how they are created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71282" y="4553280"/>
            <a:ext cx="7969802" cy="18475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"</a:t>
            </a:r>
            <a:r>
              <a:rPr lang="en-US" sz="1600" dirty="0">
                <a:latin typeface="Consolas" panose="020B0609020204030204" pitchFamily="49" charset="0"/>
              </a:rPr>
              <a:t>name": "</a:t>
            </a:r>
            <a:r>
              <a:rPr lang="en-US" sz="1600" dirty="0" err="1">
                <a:latin typeface="Consolas" panose="020B0609020204030204" pitchFamily="49" charset="0"/>
              </a:rPr>
              <a:t>coml_asmt_posi_df</a:t>
            </a:r>
            <a:r>
              <a:rPr lang="en-US" sz="16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</a:t>
            </a:r>
            <a:r>
              <a:rPr lang="en-US" sz="1600" dirty="0">
                <a:latin typeface="Consolas" panose="020B0609020204030204" pitchFamily="49" charset="0"/>
              </a:rPr>
              <a:t>"</a:t>
            </a:r>
            <a:r>
              <a:rPr lang="en-US" sz="1600" dirty="0" err="1">
                <a:latin typeface="Consolas" panose="020B0609020204030204" pitchFamily="49" charset="0"/>
              </a:rPr>
              <a:t>dependsOn</a:t>
            </a:r>
            <a:r>
              <a:rPr lang="en-US" sz="1600" dirty="0">
                <a:latin typeface="Consolas" panose="020B0609020204030204" pitchFamily="49" charset="0"/>
              </a:rPr>
              <a:t>": ["</a:t>
            </a:r>
            <a:r>
              <a:rPr lang="en-US" sz="1600" dirty="0" err="1">
                <a:latin typeface="Consolas" panose="020B0609020204030204" pitchFamily="49" charset="0"/>
              </a:rPr>
              <a:t>coml_asmt_df</a:t>
            </a:r>
            <a:r>
              <a:rPr lang="en-US" sz="1600" dirty="0">
                <a:latin typeface="Consolas" panose="020B0609020204030204" pitchFamily="49" charset="0"/>
              </a:rPr>
              <a:t>", "</a:t>
            </a:r>
            <a:r>
              <a:rPr lang="en-US" sz="1600" dirty="0" err="1">
                <a:latin typeface="Consolas" panose="020B0609020204030204" pitchFamily="49" charset="0"/>
              </a:rPr>
              <a:t>coml_posi_df</a:t>
            </a:r>
            <a:r>
              <a:rPr lang="en-US" sz="1600" dirty="0">
                <a:latin typeface="Consolas" panose="020B0609020204030204" pitchFamily="49" charset="0"/>
              </a:rPr>
              <a:t>"],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"</a:t>
            </a:r>
            <a:r>
              <a:rPr lang="en-US" sz="1600" dirty="0">
                <a:latin typeface="Consolas" panose="020B0609020204030204" pitchFamily="49" charset="0"/>
              </a:rPr>
              <a:t>job":"/Shared/</a:t>
            </a:r>
            <a:r>
              <a:rPr lang="en-US" sz="1600" dirty="0" err="1">
                <a:latin typeface="Consolas" panose="020B0609020204030204" pitchFamily="49" charset="0"/>
              </a:rPr>
              <a:t>dff</a:t>
            </a:r>
            <a:r>
              <a:rPr lang="en-US" sz="1600" dirty="0">
                <a:latin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</a:rPr>
              <a:t>ordz</a:t>
            </a:r>
            <a:r>
              <a:rPr lang="en-US" sz="1600" dirty="0">
                <a:latin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</a:rPr>
              <a:t>coml_asmt_posi_df</a:t>
            </a:r>
            <a:r>
              <a:rPr lang="en-US" sz="16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latin typeface="Consolas" panose="020B0609020204030204" pitchFamily="49" charset="0"/>
              </a:rPr>
              <a:t>“description” : “commercial loan positions with asset data joined”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},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20266" y="1348413"/>
            <a:ext cx="1477108" cy="4689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coml_asmt_df</a:t>
            </a:r>
            <a:endParaRPr lang="en-US" b="1" dirty="0"/>
          </a:p>
        </p:txBody>
      </p:sp>
      <p:sp>
        <p:nvSpPr>
          <p:cNvPr id="35" name="Rectangle 34"/>
          <p:cNvSpPr/>
          <p:nvPr/>
        </p:nvSpPr>
        <p:spPr>
          <a:xfrm>
            <a:off x="1320266" y="2172181"/>
            <a:ext cx="1477108" cy="4689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coml_posi_df</a:t>
            </a:r>
            <a:endParaRPr lang="en-US" b="1" dirty="0"/>
          </a:p>
        </p:txBody>
      </p:sp>
      <p:sp>
        <p:nvSpPr>
          <p:cNvPr id="36" name="Rectangle 35"/>
          <p:cNvSpPr/>
          <p:nvPr/>
        </p:nvSpPr>
        <p:spPr>
          <a:xfrm>
            <a:off x="5294389" y="1738427"/>
            <a:ext cx="2262554" cy="4689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coml_asmt_posi_df</a:t>
            </a:r>
            <a:endParaRPr lang="en-US" b="1" dirty="0"/>
          </a:p>
        </p:txBody>
      </p:sp>
      <p:cxnSp>
        <p:nvCxnSpPr>
          <p:cNvPr id="37" name="Straight Arrow Connector 36"/>
          <p:cNvCxnSpPr>
            <a:stCxn id="34" idx="3"/>
            <a:endCxn id="36" idx="1"/>
          </p:cNvCxnSpPr>
          <p:nvPr/>
        </p:nvCxnSpPr>
        <p:spPr>
          <a:xfrm>
            <a:off x="2797374" y="1582875"/>
            <a:ext cx="2497015" cy="390014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5" idx="3"/>
          </p:cNvCxnSpPr>
          <p:nvPr/>
        </p:nvCxnSpPr>
        <p:spPr>
          <a:xfrm flipV="1">
            <a:off x="2797374" y="1972889"/>
            <a:ext cx="2497015" cy="433754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20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5559" y="3405174"/>
            <a:ext cx="8581720" cy="1179366"/>
          </a:xfrm>
        </p:spPr>
        <p:txBody>
          <a:bodyPr/>
          <a:lstStyle/>
          <a:p>
            <a:r>
              <a:rPr lang="en-US" dirty="0" smtClean="0"/>
              <a:t>Example Derived DataFrame Registry definitions:</a:t>
            </a:r>
          </a:p>
          <a:p>
            <a:pPr marL="473869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Definition of Asset Position DataFrame</a:t>
            </a:r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lvl="1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Derived DataFrames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r>
              <a:rPr lang="en-US" dirty="0" smtClean="0"/>
              <a:t>registry meta-data defines how they are created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71282" y="4553280"/>
            <a:ext cx="7969802" cy="18475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"</a:t>
            </a:r>
            <a:r>
              <a:rPr lang="en-US" sz="1600" dirty="0">
                <a:latin typeface="Consolas" panose="020B0609020204030204" pitchFamily="49" charset="0"/>
              </a:rPr>
              <a:t>name": "</a:t>
            </a:r>
            <a:r>
              <a:rPr lang="en-US" sz="1600" dirty="0" err="1">
                <a:latin typeface="Consolas" panose="020B0609020204030204" pitchFamily="49" charset="0"/>
              </a:rPr>
              <a:t>coml_asmt_posi_df</a:t>
            </a:r>
            <a:r>
              <a:rPr lang="en-US" sz="16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</a:t>
            </a:r>
            <a:r>
              <a:rPr lang="en-US" sz="1600" dirty="0">
                <a:latin typeface="Consolas" panose="020B0609020204030204" pitchFamily="49" charset="0"/>
              </a:rPr>
              <a:t>"</a:t>
            </a:r>
            <a:r>
              <a:rPr lang="en-US" sz="1600" dirty="0" err="1">
                <a:latin typeface="Consolas" panose="020B0609020204030204" pitchFamily="49" charset="0"/>
              </a:rPr>
              <a:t>dependsOn</a:t>
            </a:r>
            <a:r>
              <a:rPr lang="en-US" sz="1600" dirty="0">
                <a:latin typeface="Consolas" panose="020B0609020204030204" pitchFamily="49" charset="0"/>
              </a:rPr>
              <a:t>": ["</a:t>
            </a:r>
            <a:r>
              <a:rPr lang="en-US" sz="1600" dirty="0" err="1">
                <a:latin typeface="Consolas" panose="020B0609020204030204" pitchFamily="49" charset="0"/>
              </a:rPr>
              <a:t>coml_asmt_df</a:t>
            </a:r>
            <a:r>
              <a:rPr lang="en-US" sz="1600" dirty="0">
                <a:latin typeface="Consolas" panose="020B0609020204030204" pitchFamily="49" charset="0"/>
              </a:rPr>
              <a:t>", "</a:t>
            </a:r>
            <a:r>
              <a:rPr lang="en-US" sz="1600" dirty="0" err="1">
                <a:latin typeface="Consolas" panose="020B0609020204030204" pitchFamily="49" charset="0"/>
              </a:rPr>
              <a:t>coml_posi_df</a:t>
            </a:r>
            <a:r>
              <a:rPr lang="en-US" sz="1600" dirty="0">
                <a:latin typeface="Consolas" panose="020B0609020204030204" pitchFamily="49" charset="0"/>
              </a:rPr>
              <a:t>"],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"</a:t>
            </a:r>
            <a:r>
              <a:rPr lang="en-US" sz="1600" dirty="0">
                <a:latin typeface="Consolas" panose="020B0609020204030204" pitchFamily="49" charset="0"/>
              </a:rPr>
              <a:t>job":"/Shared/</a:t>
            </a:r>
            <a:r>
              <a:rPr lang="en-US" sz="1600" dirty="0" err="1">
                <a:latin typeface="Consolas" panose="020B0609020204030204" pitchFamily="49" charset="0"/>
              </a:rPr>
              <a:t>dff</a:t>
            </a:r>
            <a:r>
              <a:rPr lang="en-US" sz="1600" dirty="0">
                <a:latin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</a:rPr>
              <a:t>ordz</a:t>
            </a:r>
            <a:r>
              <a:rPr lang="en-US" sz="1600" dirty="0">
                <a:latin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</a:rPr>
              <a:t>coml_asmt_posi_df</a:t>
            </a:r>
            <a:r>
              <a:rPr lang="en-US" sz="16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latin typeface="Consolas" panose="020B0609020204030204" pitchFamily="49" charset="0"/>
              </a:rPr>
              <a:t>“description” : “commercial loan positions with asset data joined”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},</a:t>
            </a:r>
          </a:p>
        </p:txBody>
      </p:sp>
      <p:cxnSp>
        <p:nvCxnSpPr>
          <p:cNvPr id="19" name="Straight Arrow Connector 18"/>
          <p:cNvCxnSpPr>
            <a:stCxn id="20" idx="2"/>
          </p:cNvCxnSpPr>
          <p:nvPr/>
        </p:nvCxnSpPr>
        <p:spPr>
          <a:xfrm flipH="1">
            <a:off x="6257682" y="4280497"/>
            <a:ext cx="1521612" cy="1053503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31308" y="2810387"/>
            <a:ext cx="2295971" cy="147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This specifies how this derived dataframe depends on data from other dataframes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41314" y="5222632"/>
            <a:ext cx="3616368" cy="2669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134257" y="4970934"/>
            <a:ext cx="2060163" cy="2516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4491188" y="2480243"/>
            <a:ext cx="1993327" cy="6341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This is the name of the DataFrame</a:t>
            </a:r>
          </a:p>
        </p:txBody>
      </p:sp>
      <p:cxnSp>
        <p:nvCxnSpPr>
          <p:cNvPr id="29" name="Straight Arrow Connector 28"/>
          <p:cNvCxnSpPr>
            <a:stCxn id="28" idx="2"/>
          </p:cNvCxnSpPr>
          <p:nvPr/>
        </p:nvCxnSpPr>
        <p:spPr>
          <a:xfrm flipH="1">
            <a:off x="3772389" y="3114429"/>
            <a:ext cx="1715463" cy="1873742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320266" y="1348413"/>
            <a:ext cx="1477108" cy="4689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coml_asmt_df</a:t>
            </a:r>
            <a:endParaRPr lang="en-US" b="1" dirty="0"/>
          </a:p>
        </p:txBody>
      </p:sp>
      <p:sp>
        <p:nvSpPr>
          <p:cNvPr id="35" name="Rectangle 34"/>
          <p:cNvSpPr/>
          <p:nvPr/>
        </p:nvSpPr>
        <p:spPr>
          <a:xfrm>
            <a:off x="1320266" y="2172181"/>
            <a:ext cx="1477108" cy="4689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coml_posi_df</a:t>
            </a:r>
            <a:endParaRPr lang="en-US" b="1" dirty="0"/>
          </a:p>
        </p:txBody>
      </p:sp>
      <p:sp>
        <p:nvSpPr>
          <p:cNvPr id="36" name="Rectangle 35"/>
          <p:cNvSpPr/>
          <p:nvPr/>
        </p:nvSpPr>
        <p:spPr>
          <a:xfrm>
            <a:off x="5294389" y="1738427"/>
            <a:ext cx="2262554" cy="4689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coml_asmt_posi_df</a:t>
            </a:r>
            <a:endParaRPr lang="en-US" b="1" dirty="0"/>
          </a:p>
        </p:txBody>
      </p:sp>
      <p:cxnSp>
        <p:nvCxnSpPr>
          <p:cNvPr id="37" name="Straight Arrow Connector 36"/>
          <p:cNvCxnSpPr>
            <a:stCxn id="34" idx="3"/>
            <a:endCxn id="36" idx="1"/>
          </p:cNvCxnSpPr>
          <p:nvPr/>
        </p:nvCxnSpPr>
        <p:spPr>
          <a:xfrm>
            <a:off x="2797374" y="1582875"/>
            <a:ext cx="2497015" cy="390014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5" idx="3"/>
          </p:cNvCxnSpPr>
          <p:nvPr/>
        </p:nvCxnSpPr>
        <p:spPr>
          <a:xfrm flipV="1">
            <a:off x="2797374" y="1972889"/>
            <a:ext cx="2497015" cy="433754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770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41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Notebooks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Where we write the logic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86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1333" y="1348153"/>
            <a:ext cx="8581720" cy="5067189"/>
          </a:xfrm>
        </p:spPr>
        <p:txBody>
          <a:bodyPr/>
          <a:lstStyle/>
          <a:p>
            <a:endParaRPr lang="en-US" b="1" dirty="0" smtClean="0"/>
          </a:p>
          <a:p>
            <a:pPr marL="434579" lvl="4" indent="0">
              <a:buNone/>
            </a:pPr>
            <a:endParaRPr lang="en-US" b="1" dirty="0"/>
          </a:p>
          <a:p>
            <a:pPr marL="434579" lvl="4" indent="0">
              <a:buNone/>
            </a:pPr>
            <a:endParaRPr lang="en-US" b="1" dirty="0" smtClean="0"/>
          </a:p>
          <a:p>
            <a:pPr marL="434579" lvl="4" indent="0">
              <a:buNone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demo of simple Notebook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766070" cy="657953"/>
          </a:xfrm>
        </p:spPr>
        <p:txBody>
          <a:bodyPr/>
          <a:lstStyle/>
          <a:p>
            <a:r>
              <a:rPr lang="en-US" dirty="0" smtClean="0"/>
              <a:t>What is a Notebook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r>
              <a:rPr lang="en-US" dirty="0" smtClean="0"/>
              <a:t>General purpose Web-based UI for interacting with Databricks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21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1333" y="1348153"/>
            <a:ext cx="8581720" cy="5067189"/>
          </a:xfrm>
        </p:spPr>
        <p:txBody>
          <a:bodyPr/>
          <a:lstStyle/>
          <a:p>
            <a:r>
              <a:rPr lang="en-US" b="1" dirty="0" smtClean="0"/>
              <a:t>Databricks Notebooks </a:t>
            </a:r>
            <a:r>
              <a:rPr lang="en-US" dirty="0" smtClean="0"/>
              <a:t>are part of the Databricks </a:t>
            </a:r>
          </a:p>
          <a:p>
            <a:r>
              <a:rPr lang="en-US" dirty="0" smtClean="0"/>
              <a:t>Notebook contains a set of runnable cells where</a:t>
            </a:r>
          </a:p>
          <a:p>
            <a:pPr lvl="2"/>
            <a:r>
              <a:rPr lang="en-US" dirty="0" smtClean="0"/>
              <a:t> each cell can contain code, data results, visualizations, text</a:t>
            </a:r>
          </a:p>
          <a:p>
            <a:pPr marL="4763" lvl="1" indent="0">
              <a:buNone/>
            </a:pPr>
            <a:endParaRPr lang="en-US" b="1" dirty="0" smtClean="0"/>
          </a:p>
          <a:p>
            <a:pPr marL="4763" lvl="1" indent="0">
              <a:buNone/>
            </a:pPr>
            <a:r>
              <a:rPr lang="en-US" b="1" dirty="0" smtClean="0"/>
              <a:t>GDF Notebooks </a:t>
            </a:r>
            <a:r>
              <a:rPr lang="en-US" dirty="0" smtClean="0"/>
              <a:t>are a </a:t>
            </a:r>
            <a:r>
              <a:rPr lang="en-US" dirty="0"/>
              <a:t>specialized </a:t>
            </a:r>
            <a:r>
              <a:rPr lang="en-US" dirty="0" smtClean="0"/>
              <a:t>Databricks Notebooks </a:t>
            </a:r>
          </a:p>
          <a:p>
            <a:pPr marL="434579" lvl="4" indent="0">
              <a:buNone/>
            </a:pPr>
            <a:r>
              <a:rPr lang="en-US" dirty="0" smtClean="0"/>
              <a:t>Primarily used to create </a:t>
            </a:r>
            <a:r>
              <a:rPr lang="en-US" i="1" dirty="0" smtClean="0"/>
              <a:t>Derived Dataframes</a:t>
            </a:r>
          </a:p>
          <a:p>
            <a:pPr marL="434579" lvl="4" indent="0">
              <a:buNone/>
            </a:pPr>
            <a:r>
              <a:rPr lang="en-US" dirty="0" smtClean="0"/>
              <a:t>GDF Notebooks have specialized methods to:</a:t>
            </a:r>
          </a:p>
          <a:p>
            <a:pPr lvl="4"/>
            <a:r>
              <a:rPr lang="en-US" dirty="0" smtClean="0"/>
              <a:t> retrieve data from existing ‘input’ Dataframes</a:t>
            </a:r>
          </a:p>
          <a:p>
            <a:pPr lvl="4"/>
            <a:r>
              <a:rPr lang="en-US" dirty="0" smtClean="0"/>
              <a:t> store curated results as new ‘output’ Dataframes</a:t>
            </a:r>
          </a:p>
          <a:p>
            <a:pPr marL="434579" lvl="4" indent="0">
              <a:buNone/>
            </a:pP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766070" cy="657953"/>
          </a:xfrm>
        </p:spPr>
        <p:txBody>
          <a:bodyPr/>
          <a:lstStyle/>
          <a:p>
            <a:r>
              <a:rPr lang="en-US" dirty="0" smtClean="0"/>
              <a:t>Databricks Notebooks vs GDF Notebooks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r>
              <a:rPr lang="en-US" dirty="0" smtClean="0"/>
              <a:t>General purpose Web-based UI for interacting with Databricks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91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1333" y="1461985"/>
            <a:ext cx="8581720" cy="1071885"/>
          </a:xfrm>
        </p:spPr>
        <p:txBody>
          <a:bodyPr/>
          <a:lstStyle/>
          <a:p>
            <a:pPr marL="4763" lvl="1" indent="0">
              <a:buNone/>
            </a:pPr>
            <a:r>
              <a:rPr lang="en-US" dirty="0" smtClean="0"/>
              <a:t>A Databricks Notebook becomes a </a:t>
            </a:r>
            <a:r>
              <a:rPr lang="en-US" i="1" dirty="0" smtClean="0"/>
              <a:t>GDF Notebook </a:t>
            </a:r>
            <a:r>
              <a:rPr lang="en-US" dirty="0" smtClean="0"/>
              <a:t>by including the following code snippet in the Notebook: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766070" cy="657953"/>
          </a:xfrm>
        </p:spPr>
        <p:txBody>
          <a:bodyPr/>
          <a:lstStyle/>
          <a:p>
            <a:r>
              <a:rPr lang="en-US" dirty="0" smtClean="0"/>
              <a:t>GDF Notebooks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r>
              <a:rPr lang="en-US" dirty="0" smtClean="0"/>
              <a:t>GDF Notebooks have specialized capabilities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146136" y="2533870"/>
            <a:ext cx="6821609" cy="34817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from </a:t>
            </a:r>
            <a:r>
              <a:rPr lang="en-US" sz="1800" b="1" dirty="0" err="1">
                <a:latin typeface="Consolas" panose="020B0609020204030204" pitchFamily="49" charset="0"/>
              </a:rPr>
              <a:t>dff.dfnotebook</a:t>
            </a:r>
            <a:r>
              <a:rPr lang="en-US" sz="1800" b="1" dirty="0">
                <a:latin typeface="Consolas" panose="020B0609020204030204" pitchFamily="49" charset="0"/>
              </a:rPr>
              <a:t> import </a:t>
            </a:r>
            <a:r>
              <a:rPr lang="en-US" sz="1800" b="1" dirty="0" err="1" smtClean="0">
                <a:latin typeface="Consolas" panose="020B0609020204030204" pitchFamily="49" charset="0"/>
              </a:rPr>
              <a:t>GDFNotebook</a:t>
            </a:r>
            <a:endParaRPr lang="en-US" sz="1800" b="1" dirty="0">
              <a:latin typeface="Consolas" panose="020B0609020204030204" pitchFamily="49" charset="0"/>
            </a:endParaRPr>
          </a:p>
          <a:p>
            <a:endParaRPr lang="en-US" sz="1800" b="1" dirty="0">
              <a:latin typeface="Consolas" panose="020B0609020204030204" pitchFamily="49" charset="0"/>
            </a:endParaRPr>
          </a:p>
          <a:p>
            <a:r>
              <a:rPr lang="en-US" sz="1800" b="1" dirty="0" err="1">
                <a:latin typeface="Consolas" panose="020B0609020204030204" pitchFamily="49" charset="0"/>
              </a:rPr>
              <a:t>env</a:t>
            </a:r>
            <a:r>
              <a:rPr lang="en-US" sz="1800" b="1" dirty="0">
                <a:latin typeface="Consolas" panose="020B0609020204030204" pitchFamily="49" charset="0"/>
              </a:rPr>
              <a:t> = {'</a:t>
            </a:r>
            <a:r>
              <a:rPr lang="en-US" sz="1800" b="1" dirty="0" err="1">
                <a:latin typeface="Consolas" panose="020B0609020204030204" pitchFamily="49" charset="0"/>
              </a:rPr>
              <a:t>dbutils</a:t>
            </a:r>
            <a:r>
              <a:rPr lang="en-US" sz="1800" b="1" dirty="0">
                <a:latin typeface="Consolas" panose="020B0609020204030204" pitchFamily="49" charset="0"/>
              </a:rPr>
              <a:t>':</a:t>
            </a:r>
            <a:r>
              <a:rPr lang="en-US" sz="1800" b="1" dirty="0" err="1">
                <a:latin typeface="Consolas" panose="020B0609020204030204" pitchFamily="49" charset="0"/>
              </a:rPr>
              <a:t>dbutils</a:t>
            </a:r>
            <a:r>
              <a:rPr lang="en-US" sz="1800" b="1" dirty="0">
                <a:latin typeface="Consolas" panose="020B0609020204030204" pitchFamily="49" charset="0"/>
              </a:rPr>
              <a:t>, </a:t>
            </a:r>
          </a:p>
          <a:p>
            <a:r>
              <a:rPr lang="en-US" sz="1800" b="1" dirty="0">
                <a:latin typeface="Consolas" panose="020B0609020204030204" pitchFamily="49" charset="0"/>
              </a:rPr>
              <a:t>       '</a:t>
            </a:r>
            <a:r>
              <a:rPr lang="en-US" sz="1800" b="1" dirty="0" err="1">
                <a:latin typeface="Consolas" panose="020B0609020204030204" pitchFamily="49" charset="0"/>
              </a:rPr>
              <a:t>spark':spark</a:t>
            </a:r>
            <a:r>
              <a:rPr lang="en-US" sz="1800" b="1" dirty="0">
                <a:latin typeface="Consolas" panose="020B0609020204030204" pitchFamily="49" charset="0"/>
              </a:rPr>
              <a:t>, </a:t>
            </a:r>
          </a:p>
          <a:p>
            <a:r>
              <a:rPr lang="en-US" sz="1800" b="1" dirty="0">
                <a:latin typeface="Consolas" panose="020B0609020204030204" pitchFamily="49" charset="0"/>
              </a:rPr>
              <a:t>       '</a:t>
            </a:r>
            <a:r>
              <a:rPr lang="en-US" sz="1800" b="1" dirty="0" err="1">
                <a:latin typeface="Consolas" panose="020B0609020204030204" pitchFamily="49" charset="0"/>
              </a:rPr>
              <a:t>sparkContext</a:t>
            </a:r>
            <a:r>
              <a:rPr lang="en-US" sz="1800" b="1" dirty="0">
                <a:latin typeface="Consolas" panose="020B0609020204030204" pitchFamily="49" charset="0"/>
              </a:rPr>
              <a:t>':</a:t>
            </a:r>
            <a:r>
              <a:rPr lang="en-US" sz="1800" b="1" dirty="0" err="1">
                <a:latin typeface="Consolas" panose="020B0609020204030204" pitchFamily="49" charset="0"/>
              </a:rPr>
              <a:t>sc</a:t>
            </a:r>
            <a:r>
              <a:rPr lang="en-US" sz="1800" b="1" dirty="0">
                <a:latin typeface="Consolas" panose="020B0609020204030204" pitchFamily="49" charset="0"/>
              </a:rPr>
              <a:t>, </a:t>
            </a:r>
          </a:p>
          <a:p>
            <a:r>
              <a:rPr lang="en-US" sz="1800" b="1" dirty="0">
                <a:latin typeface="Consolas" panose="020B0609020204030204" pitchFamily="49" charset="0"/>
              </a:rPr>
              <a:t>       '</a:t>
            </a:r>
            <a:r>
              <a:rPr lang="en-US" sz="1800" b="1" dirty="0" err="1">
                <a:latin typeface="Consolas" panose="020B0609020204030204" pitchFamily="49" charset="0"/>
              </a:rPr>
              <a:t>sqlContext</a:t>
            </a:r>
            <a:r>
              <a:rPr lang="en-US" sz="1800" b="1" dirty="0">
                <a:latin typeface="Consolas" panose="020B0609020204030204" pitchFamily="49" charset="0"/>
              </a:rPr>
              <a:t>':</a:t>
            </a:r>
            <a:r>
              <a:rPr lang="en-US" sz="1800" b="1" dirty="0" err="1">
                <a:latin typeface="Consolas" panose="020B0609020204030204" pitchFamily="49" charset="0"/>
              </a:rPr>
              <a:t>sqlContext</a:t>
            </a:r>
            <a:r>
              <a:rPr lang="en-US" sz="1800" b="1" dirty="0">
                <a:latin typeface="Consolas" panose="020B0609020204030204" pitchFamily="49" charset="0"/>
              </a:rPr>
              <a:t>, </a:t>
            </a:r>
          </a:p>
          <a:p>
            <a:r>
              <a:rPr lang="en-US" sz="1800" b="1" dirty="0">
                <a:latin typeface="Consolas" panose="020B0609020204030204" pitchFamily="49" charset="0"/>
              </a:rPr>
              <a:t>       'mount':'/</a:t>
            </a:r>
            <a:r>
              <a:rPr lang="en-US" sz="1800" b="1" dirty="0" err="1">
                <a:latin typeface="Consolas" panose="020B0609020204030204" pitchFamily="49" charset="0"/>
              </a:rPr>
              <a:t>mnt</a:t>
            </a:r>
            <a:r>
              <a:rPr lang="en-US" sz="1800" b="1" dirty="0">
                <a:latin typeface="Consolas" panose="020B0609020204030204" pitchFamily="49" charset="0"/>
              </a:rPr>
              <a:t>/grid/</a:t>
            </a:r>
            <a:r>
              <a:rPr lang="en-US" sz="1800" b="1" dirty="0" err="1">
                <a:latin typeface="Consolas" panose="020B0609020204030204" pitchFamily="49" charset="0"/>
              </a:rPr>
              <a:t>databricks</a:t>
            </a:r>
            <a:r>
              <a:rPr lang="en-US" sz="1800" b="1" dirty="0">
                <a:latin typeface="Consolas" panose="020B0609020204030204" pitchFamily="49" charset="0"/>
              </a:rPr>
              <a:t>', </a:t>
            </a:r>
          </a:p>
          <a:p>
            <a:r>
              <a:rPr lang="en-US" sz="1800" b="1" dirty="0">
                <a:latin typeface="Consolas" panose="020B0609020204030204" pitchFamily="49" charset="0"/>
              </a:rPr>
              <a:t>       '</a:t>
            </a:r>
            <a:r>
              <a:rPr lang="en-US" sz="1800" b="1" dirty="0" err="1">
                <a:latin typeface="Consolas" panose="020B0609020204030204" pitchFamily="49" charset="0"/>
              </a:rPr>
              <a:t>sql</a:t>
            </a:r>
            <a:r>
              <a:rPr lang="en-US" sz="1800" b="1" dirty="0">
                <a:latin typeface="Consolas" panose="020B0609020204030204" pitchFamily="49" charset="0"/>
              </a:rPr>
              <a:t>':</a:t>
            </a:r>
            <a:r>
              <a:rPr lang="en-US" sz="1800" b="1" dirty="0" err="1">
                <a:latin typeface="Consolas" panose="020B0609020204030204" pitchFamily="49" charset="0"/>
              </a:rPr>
              <a:t>sql</a:t>
            </a:r>
            <a:r>
              <a:rPr lang="en-US" sz="1800" b="1" dirty="0">
                <a:latin typeface="Consolas" panose="020B0609020204030204" pitchFamily="49" charset="0"/>
              </a:rPr>
              <a:t>}</a:t>
            </a:r>
          </a:p>
          <a:p>
            <a:endParaRPr lang="en-US" sz="1800" b="1" dirty="0">
              <a:latin typeface="Consolas" panose="020B0609020204030204" pitchFamily="49" charset="0"/>
            </a:endParaRPr>
          </a:p>
          <a:p>
            <a:r>
              <a:rPr lang="en-US" sz="1800" b="1" dirty="0" err="1">
                <a:latin typeface="Consolas" panose="020B0609020204030204" pitchFamily="49" charset="0"/>
              </a:rPr>
              <a:t>nb</a:t>
            </a:r>
            <a:r>
              <a:rPr lang="en-US" sz="1800" b="1" dirty="0">
                <a:latin typeface="Consolas" panose="020B0609020204030204" pitchFamily="49" charset="0"/>
              </a:rPr>
              <a:t> = </a:t>
            </a:r>
            <a:r>
              <a:rPr lang="en-US" sz="1800" b="1" dirty="0" err="1" smtClean="0">
                <a:latin typeface="Consolas" panose="020B0609020204030204" pitchFamily="49" charset="0"/>
              </a:rPr>
              <a:t>GDFNotebook</a:t>
            </a:r>
            <a:r>
              <a:rPr lang="en-US" sz="1800" b="1" dirty="0">
                <a:latin typeface="Consolas" panose="020B0609020204030204" pitchFamily="49" charset="0"/>
              </a:rPr>
              <a:t>(</a:t>
            </a:r>
            <a:r>
              <a:rPr lang="en-US" sz="1800" b="1" dirty="0" smtClean="0">
                <a:latin typeface="Consolas" panose="020B0609020204030204" pitchFamily="49" charset="0"/>
              </a:rPr>
              <a:t>'</a:t>
            </a:r>
            <a:r>
              <a:rPr lang="en-US" sz="1800" b="1" dirty="0" err="1" smtClean="0">
                <a:latin typeface="Consolas" panose="020B0609020204030204" pitchFamily="49" charset="0"/>
              </a:rPr>
              <a:t>Sample_GDF_Notebook</a:t>
            </a:r>
            <a:r>
              <a:rPr lang="en-US" sz="1800" b="1" dirty="0" smtClean="0">
                <a:latin typeface="Consolas" panose="020B0609020204030204" pitchFamily="49" charset="0"/>
              </a:rPr>
              <a:t>‘, </a:t>
            </a:r>
            <a:r>
              <a:rPr lang="en-US" sz="1800" b="1" dirty="0" err="1" smtClean="0">
                <a:latin typeface="Consolas" panose="020B0609020204030204" pitchFamily="49" charset="0"/>
              </a:rPr>
              <a:t>env</a:t>
            </a:r>
            <a:r>
              <a:rPr lang="en-US" sz="1800" b="1" dirty="0" smtClean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684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6390" y="1373446"/>
            <a:ext cx="8581720" cy="2148959"/>
          </a:xfrm>
        </p:spPr>
        <p:txBody>
          <a:bodyPr/>
          <a:lstStyle/>
          <a:p>
            <a:r>
              <a:rPr lang="en-US" dirty="0" smtClean="0"/>
              <a:t>A GDF Notebook defines a function </a:t>
            </a:r>
          </a:p>
          <a:p>
            <a:r>
              <a:rPr lang="en-US" dirty="0"/>
              <a:t>T</a:t>
            </a:r>
            <a:r>
              <a:rPr lang="en-US" dirty="0" smtClean="0"/>
              <a:t>ransforms input dataframe(s) to an output dataframe</a:t>
            </a:r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lvl="1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GDF Notebooks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r>
              <a:rPr lang="en-US" dirty="0" smtClean="0"/>
              <a:t>Databricks Notebooks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320266" y="3933182"/>
            <a:ext cx="1477108" cy="4689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Input DataFrame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1320266" y="4756950"/>
            <a:ext cx="1477108" cy="4689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Input DataFrame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5294389" y="4312179"/>
            <a:ext cx="2262554" cy="4689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Output DataFrame</a:t>
            </a:r>
            <a:endParaRPr lang="en-US" b="1" dirty="0"/>
          </a:p>
        </p:txBody>
      </p:sp>
      <p:cxnSp>
        <p:nvCxnSpPr>
          <p:cNvPr id="13" name="Straight Arrow Connector 12"/>
          <p:cNvCxnSpPr>
            <a:stCxn id="10" idx="3"/>
          </p:cNvCxnSpPr>
          <p:nvPr/>
        </p:nvCxnSpPr>
        <p:spPr>
          <a:xfrm>
            <a:off x="2797374" y="4167644"/>
            <a:ext cx="845779" cy="186937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3"/>
          </p:cNvCxnSpPr>
          <p:nvPr/>
        </p:nvCxnSpPr>
        <p:spPr>
          <a:xfrm flipV="1">
            <a:off x="2797374" y="4792120"/>
            <a:ext cx="845779" cy="199292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Vertical Scroll 8"/>
          <p:cNvSpPr/>
          <p:nvPr/>
        </p:nvSpPr>
        <p:spPr>
          <a:xfrm>
            <a:off x="3420835" y="3780782"/>
            <a:ext cx="1532031" cy="1535723"/>
          </a:xfrm>
          <a:prstGeom prst="verticalScroll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Notebook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>
            <a:stCxn id="9" idx="3"/>
            <a:endCxn id="12" idx="1"/>
          </p:cNvCxnSpPr>
          <p:nvPr/>
        </p:nvCxnSpPr>
        <p:spPr>
          <a:xfrm flipV="1">
            <a:off x="4761362" y="4546641"/>
            <a:ext cx="533027" cy="2003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53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1465" y="1153106"/>
            <a:ext cx="8581720" cy="523128"/>
          </a:xfrm>
        </p:spPr>
        <p:txBody>
          <a:bodyPr/>
          <a:lstStyle/>
          <a:p>
            <a:r>
              <a:rPr lang="en-US" dirty="0" smtClean="0"/>
              <a:t>Example Derived DataFrame Registry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465" y="1714272"/>
            <a:ext cx="8427568" cy="42859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t">
            <a:noAutofit/>
          </a:bodyPr>
          <a:lstStyle/>
          <a:p>
            <a:r>
              <a:rPr lang="en-US" sz="2000" b="1" dirty="0" smtClean="0">
                <a:latin typeface="Consolas" panose="020B0609020204030204" pitchFamily="49" charset="0"/>
              </a:rPr>
              <a:t>from </a:t>
            </a:r>
            <a:r>
              <a:rPr lang="en-US" sz="2000" b="1" dirty="0" err="1">
                <a:latin typeface="Consolas" panose="020B0609020204030204" pitchFamily="49" charset="0"/>
              </a:rPr>
              <a:t>dff.dfnotebook</a:t>
            </a:r>
            <a:r>
              <a:rPr lang="en-US" sz="2000" b="1" dirty="0">
                <a:latin typeface="Consolas" panose="020B0609020204030204" pitchFamily="49" charset="0"/>
              </a:rPr>
              <a:t> import </a:t>
            </a:r>
            <a:r>
              <a:rPr lang="en-US" sz="2000" b="1" dirty="0" err="1" smtClean="0">
                <a:latin typeface="Consolas" panose="020B0609020204030204" pitchFamily="49" charset="0"/>
              </a:rPr>
              <a:t>GDFNotebook</a:t>
            </a:r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 smtClean="0">
                <a:latin typeface="Consolas" panose="020B0609020204030204" pitchFamily="49" charset="0"/>
              </a:rPr>
              <a:t>...</a:t>
            </a:r>
          </a:p>
          <a:p>
            <a:r>
              <a:rPr lang="en-US" sz="2000" b="1" dirty="0" err="1" smtClean="0">
                <a:latin typeface="Consolas" panose="020B0609020204030204" pitchFamily="49" charset="0"/>
              </a:rPr>
              <a:t>nb</a:t>
            </a:r>
            <a:r>
              <a:rPr lang="en-US" sz="2000" b="1" dirty="0" smtClean="0">
                <a:latin typeface="Consolas" panose="020B0609020204030204" pitchFamily="49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</a:rPr>
              <a:t>= </a:t>
            </a:r>
            <a:r>
              <a:rPr lang="en-US" sz="2000" b="1" dirty="0" err="1" smtClean="0">
                <a:latin typeface="Consolas" panose="020B0609020204030204" pitchFamily="49" charset="0"/>
              </a:rPr>
              <a:t>GDFNotebook</a:t>
            </a:r>
            <a:r>
              <a:rPr lang="en-US" sz="2000" b="1" dirty="0" smtClean="0">
                <a:latin typeface="Consolas" panose="020B0609020204030204" pitchFamily="49" charset="0"/>
              </a:rPr>
              <a:t>(‘</a:t>
            </a:r>
            <a:r>
              <a:rPr lang="en-US" sz="2000" b="1" dirty="0" err="1" smtClean="0">
                <a:latin typeface="Consolas" panose="020B0609020204030204" pitchFamily="49" charset="0"/>
              </a:rPr>
              <a:t>coml_asmt_posi_df</a:t>
            </a:r>
            <a:r>
              <a:rPr lang="en-US" sz="2000" b="1" dirty="0" smtClean="0">
                <a:latin typeface="Consolas" panose="020B0609020204030204" pitchFamily="49" charset="0"/>
              </a:rPr>
              <a:t>’)</a:t>
            </a: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 smtClean="0">
                <a:latin typeface="Consolas" panose="020B0609020204030204" pitchFamily="49" charset="0"/>
              </a:rPr>
              <a:t>asmt = </a:t>
            </a:r>
            <a:r>
              <a:rPr lang="en-US" sz="2000" b="1" dirty="0" err="1" smtClean="0">
                <a:latin typeface="Consolas" panose="020B0609020204030204" pitchFamily="49" charset="0"/>
              </a:rPr>
              <a:t>nb.get_df</a:t>
            </a:r>
            <a:r>
              <a:rPr lang="en-US" sz="2000" b="1" dirty="0" smtClean="0">
                <a:latin typeface="Consolas" panose="020B0609020204030204" pitchFamily="49" charset="0"/>
              </a:rPr>
              <a:t>(‘</a:t>
            </a:r>
            <a:r>
              <a:rPr lang="en-US" sz="2000" b="1" dirty="0" err="1" smtClean="0">
                <a:latin typeface="Consolas" panose="020B0609020204030204" pitchFamily="49" charset="0"/>
              </a:rPr>
              <a:t>coml_asmt_df</a:t>
            </a:r>
            <a:r>
              <a:rPr lang="en-US" sz="2000" b="1" dirty="0" smtClean="0">
                <a:latin typeface="Consolas" panose="020B0609020204030204" pitchFamily="49" charset="0"/>
              </a:rPr>
              <a:t>’)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p</a:t>
            </a:r>
            <a:r>
              <a:rPr lang="en-US" sz="2000" b="1" dirty="0" smtClean="0">
                <a:latin typeface="Consolas" panose="020B0609020204030204" pitchFamily="49" charset="0"/>
              </a:rPr>
              <a:t>osi = </a:t>
            </a:r>
            <a:r>
              <a:rPr lang="en-US" sz="2000" b="1" dirty="0" err="1">
                <a:latin typeface="Consolas" panose="020B0609020204030204" pitchFamily="49" charset="0"/>
              </a:rPr>
              <a:t>nb.get_df</a:t>
            </a:r>
            <a:r>
              <a:rPr lang="en-US" sz="2000" b="1" dirty="0">
                <a:latin typeface="Consolas" panose="020B0609020204030204" pitchFamily="49" charset="0"/>
              </a:rPr>
              <a:t>(‘</a:t>
            </a:r>
            <a:r>
              <a:rPr lang="en-US" sz="2000" b="1" dirty="0" err="1" smtClean="0">
                <a:latin typeface="Consolas" panose="020B0609020204030204" pitchFamily="49" charset="0"/>
              </a:rPr>
              <a:t>coml_posi_df</a:t>
            </a:r>
            <a:r>
              <a:rPr lang="en-US" sz="2000" b="1" dirty="0" smtClean="0">
                <a:latin typeface="Consolas" panose="020B0609020204030204" pitchFamily="49" charset="0"/>
              </a:rPr>
              <a:t>’)</a:t>
            </a: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 smtClean="0">
                <a:latin typeface="Consolas" panose="020B0609020204030204" pitchFamily="49" charset="0"/>
              </a:rPr>
              <a:t>joined = </a:t>
            </a:r>
            <a:r>
              <a:rPr lang="en-US" sz="2000" b="1" dirty="0" err="1" smtClean="0">
                <a:latin typeface="Consolas" panose="020B0609020204030204" pitchFamily="49" charset="0"/>
              </a:rPr>
              <a:t>sql</a:t>
            </a:r>
            <a:r>
              <a:rPr lang="en-US" sz="2000" b="1" dirty="0" smtClean="0">
                <a:latin typeface="Consolas" panose="020B0609020204030204" pitchFamily="49" charset="0"/>
              </a:rPr>
              <a:t>(‘select * from ‘ + </a:t>
            </a:r>
            <a:r>
              <a:rPr lang="en-US" sz="2000" b="1" dirty="0" err="1" smtClean="0">
                <a:latin typeface="Consolas" panose="020B0609020204030204" pitchFamily="49" charset="0"/>
              </a:rPr>
              <a:t>asmt.view</a:t>
            </a:r>
            <a:r>
              <a:rPr lang="en-US" sz="2000" b="1" dirty="0" smtClean="0">
                <a:latin typeface="Consolas" panose="020B0609020204030204" pitchFamily="49" charset="0"/>
              </a:rPr>
              <a:t> + ‘ a, ‘ </a:t>
            </a:r>
          </a:p>
          <a:p>
            <a:r>
              <a:rPr lang="en-US" sz="2000" b="1" dirty="0" smtClean="0">
                <a:latin typeface="Consolas" panose="020B0609020204030204" pitchFamily="49" charset="0"/>
              </a:rPr>
              <a:t>                              + </a:t>
            </a:r>
            <a:r>
              <a:rPr lang="en-US" sz="2000" b="1" dirty="0" err="1" smtClean="0">
                <a:latin typeface="Consolas" panose="020B0609020204030204" pitchFamily="49" charset="0"/>
              </a:rPr>
              <a:t>posi.view</a:t>
            </a:r>
            <a:r>
              <a:rPr lang="en-US" sz="2000" b="1" dirty="0" smtClean="0">
                <a:latin typeface="Consolas" panose="020B0609020204030204" pitchFamily="49" charset="0"/>
              </a:rPr>
              <a:t> + ‘p, ’ 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b="1" dirty="0" smtClean="0">
                <a:latin typeface="Consolas" panose="020B0609020204030204" pitchFamily="49" charset="0"/>
              </a:rPr>
              <a:t>             ‘where </a:t>
            </a:r>
            <a:r>
              <a:rPr lang="en-US" sz="2000" b="1" dirty="0" err="1" smtClean="0">
                <a:latin typeface="Consolas" panose="020B0609020204030204" pitchFamily="49" charset="0"/>
              </a:rPr>
              <a:t>a.MetLifeAssetID</a:t>
            </a:r>
            <a:r>
              <a:rPr lang="en-US" sz="2000" b="1" dirty="0" smtClean="0">
                <a:latin typeface="Consolas" panose="020B0609020204030204" pitchFamily="49" charset="0"/>
              </a:rPr>
              <a:t> = </a:t>
            </a:r>
            <a:r>
              <a:rPr lang="en-US" sz="2000" b="1" dirty="0" err="1" smtClean="0">
                <a:latin typeface="Consolas" panose="020B0609020204030204" pitchFamily="49" charset="0"/>
              </a:rPr>
              <a:t>p.MetLifeAssetID</a:t>
            </a:r>
            <a:r>
              <a:rPr lang="en-US" sz="2000" b="1" dirty="0" smtClean="0">
                <a:latin typeface="Consolas" panose="020B0609020204030204" pitchFamily="49" charset="0"/>
              </a:rPr>
              <a:t>’)</a:t>
            </a: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endParaRPr lang="en-US" sz="2000" b="1" dirty="0" smtClean="0">
              <a:latin typeface="Consolas" panose="020B0609020204030204" pitchFamily="49" charset="0"/>
            </a:endParaRPr>
          </a:p>
          <a:p>
            <a:r>
              <a:rPr lang="en-US" sz="2000" b="1" dirty="0" err="1">
                <a:latin typeface="Consolas" panose="020B0609020204030204" pitchFamily="49" charset="0"/>
              </a:rPr>
              <a:t>n</a:t>
            </a:r>
            <a:r>
              <a:rPr lang="en-US" sz="2000" b="1" dirty="0" err="1" smtClean="0">
                <a:latin typeface="Consolas" panose="020B0609020204030204" pitchFamily="49" charset="0"/>
              </a:rPr>
              <a:t>b.store_curated_df</a:t>
            </a:r>
            <a:r>
              <a:rPr lang="en-US" sz="2000" b="1" dirty="0" smtClean="0">
                <a:latin typeface="Consolas" panose="020B0609020204030204" pitchFamily="49" charset="0"/>
              </a:rPr>
              <a:t>(joined)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GDF Notebook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r>
              <a:rPr lang="en-US" dirty="0" smtClean="0"/>
              <a:t>Is where you specify how to create the derived dataframe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65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1465" y="1153106"/>
            <a:ext cx="8581720" cy="523128"/>
          </a:xfrm>
        </p:spPr>
        <p:txBody>
          <a:bodyPr/>
          <a:lstStyle/>
          <a:p>
            <a:r>
              <a:rPr lang="en-US" dirty="0" smtClean="0"/>
              <a:t>Example Derived DataFrame Registry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465" y="1714272"/>
            <a:ext cx="8427568" cy="42859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t">
            <a:noAutofit/>
          </a:bodyPr>
          <a:lstStyle/>
          <a:p>
            <a:r>
              <a:rPr lang="en-US" sz="2000" b="1" dirty="0" smtClean="0">
                <a:latin typeface="Consolas" panose="020B0609020204030204" pitchFamily="49" charset="0"/>
              </a:rPr>
              <a:t>from </a:t>
            </a:r>
            <a:r>
              <a:rPr lang="en-US" sz="2000" b="1" dirty="0" err="1">
                <a:latin typeface="Consolas" panose="020B0609020204030204" pitchFamily="49" charset="0"/>
              </a:rPr>
              <a:t>dff.dfnotebook</a:t>
            </a:r>
            <a:r>
              <a:rPr lang="en-US" sz="2000" b="1" dirty="0">
                <a:latin typeface="Consolas" panose="020B0609020204030204" pitchFamily="49" charset="0"/>
              </a:rPr>
              <a:t> import </a:t>
            </a:r>
            <a:r>
              <a:rPr lang="en-US" sz="2000" b="1" dirty="0" err="1" smtClean="0">
                <a:latin typeface="Consolas" panose="020B0609020204030204" pitchFamily="49" charset="0"/>
              </a:rPr>
              <a:t>GDFNotebook</a:t>
            </a:r>
            <a:endParaRPr lang="en-US" sz="2000" b="1" dirty="0">
              <a:latin typeface="Consolas" panose="020B0609020204030204" pitchFamily="49" charset="0"/>
            </a:endParaRPr>
          </a:p>
          <a:p>
            <a:endParaRPr lang="en-US" sz="2000" b="1" dirty="0" smtClean="0">
              <a:latin typeface="Consolas" panose="020B0609020204030204" pitchFamily="49" charset="0"/>
            </a:endParaRPr>
          </a:p>
          <a:p>
            <a:r>
              <a:rPr lang="en-US" sz="2000" b="1" dirty="0" err="1" smtClean="0">
                <a:latin typeface="Consolas" panose="020B0609020204030204" pitchFamily="49" charset="0"/>
              </a:rPr>
              <a:t>nb</a:t>
            </a:r>
            <a:r>
              <a:rPr lang="en-US" sz="2000" b="1" dirty="0" smtClean="0">
                <a:latin typeface="Consolas" panose="020B0609020204030204" pitchFamily="49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</a:rPr>
              <a:t>= </a:t>
            </a:r>
            <a:r>
              <a:rPr lang="en-US" sz="2000" b="1" dirty="0" err="1" smtClean="0">
                <a:latin typeface="Consolas" panose="020B0609020204030204" pitchFamily="49" charset="0"/>
              </a:rPr>
              <a:t>GDFNotebook</a:t>
            </a:r>
            <a:r>
              <a:rPr lang="en-US" sz="2000" b="1" dirty="0" smtClean="0">
                <a:latin typeface="Consolas" panose="020B0609020204030204" pitchFamily="49" charset="0"/>
              </a:rPr>
              <a:t>(‘</a:t>
            </a:r>
            <a:r>
              <a:rPr lang="en-US" sz="2000" b="1" dirty="0" err="1" smtClean="0">
                <a:latin typeface="Consolas" panose="020B0609020204030204" pitchFamily="49" charset="0"/>
              </a:rPr>
              <a:t>coml_asmt_posi_df</a:t>
            </a:r>
            <a:r>
              <a:rPr lang="en-US" sz="2000" b="1" dirty="0" smtClean="0">
                <a:latin typeface="Consolas" panose="020B0609020204030204" pitchFamily="49" charset="0"/>
              </a:rPr>
              <a:t>’)</a:t>
            </a: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 smtClean="0">
                <a:latin typeface="Consolas" panose="020B0609020204030204" pitchFamily="49" charset="0"/>
              </a:rPr>
              <a:t>asmt = </a:t>
            </a:r>
            <a:r>
              <a:rPr lang="en-US" sz="2000" b="1" dirty="0" err="1" smtClean="0">
                <a:latin typeface="Consolas" panose="020B0609020204030204" pitchFamily="49" charset="0"/>
              </a:rPr>
              <a:t>nb.get_df</a:t>
            </a:r>
            <a:r>
              <a:rPr lang="en-US" sz="2000" b="1" dirty="0" smtClean="0">
                <a:latin typeface="Consolas" panose="020B0609020204030204" pitchFamily="49" charset="0"/>
              </a:rPr>
              <a:t>(‘</a:t>
            </a:r>
            <a:r>
              <a:rPr lang="en-US" sz="2000" b="1" dirty="0" err="1" smtClean="0">
                <a:latin typeface="Consolas" panose="020B0609020204030204" pitchFamily="49" charset="0"/>
              </a:rPr>
              <a:t>coml_asmt_df</a:t>
            </a:r>
            <a:r>
              <a:rPr lang="en-US" sz="2000" b="1" dirty="0" smtClean="0">
                <a:latin typeface="Consolas" panose="020B0609020204030204" pitchFamily="49" charset="0"/>
              </a:rPr>
              <a:t>’)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p</a:t>
            </a:r>
            <a:r>
              <a:rPr lang="en-US" sz="2000" b="1" dirty="0" smtClean="0">
                <a:latin typeface="Consolas" panose="020B0609020204030204" pitchFamily="49" charset="0"/>
              </a:rPr>
              <a:t>osi = </a:t>
            </a:r>
            <a:r>
              <a:rPr lang="en-US" sz="2000" b="1" dirty="0" err="1">
                <a:latin typeface="Consolas" panose="020B0609020204030204" pitchFamily="49" charset="0"/>
              </a:rPr>
              <a:t>nb.get_df</a:t>
            </a:r>
            <a:r>
              <a:rPr lang="en-US" sz="2000" b="1" dirty="0">
                <a:latin typeface="Consolas" panose="020B0609020204030204" pitchFamily="49" charset="0"/>
              </a:rPr>
              <a:t>(‘</a:t>
            </a:r>
            <a:r>
              <a:rPr lang="en-US" sz="2000" b="1" dirty="0" err="1" smtClean="0">
                <a:latin typeface="Consolas" panose="020B0609020204030204" pitchFamily="49" charset="0"/>
              </a:rPr>
              <a:t>coml_posi_df</a:t>
            </a:r>
            <a:r>
              <a:rPr lang="en-US" sz="2000" b="1" dirty="0" smtClean="0">
                <a:latin typeface="Consolas" panose="020B0609020204030204" pitchFamily="49" charset="0"/>
              </a:rPr>
              <a:t>’)</a:t>
            </a: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 smtClean="0">
                <a:latin typeface="Consolas" panose="020B0609020204030204" pitchFamily="49" charset="0"/>
              </a:rPr>
              <a:t>joined = </a:t>
            </a:r>
            <a:r>
              <a:rPr lang="en-US" sz="2000" b="1" dirty="0" err="1" smtClean="0">
                <a:latin typeface="Consolas" panose="020B0609020204030204" pitchFamily="49" charset="0"/>
              </a:rPr>
              <a:t>sql</a:t>
            </a:r>
            <a:r>
              <a:rPr lang="en-US" sz="2000" b="1" dirty="0" smtClean="0">
                <a:latin typeface="Consolas" panose="020B0609020204030204" pitchFamily="49" charset="0"/>
              </a:rPr>
              <a:t>(‘select * from ‘ + </a:t>
            </a:r>
            <a:r>
              <a:rPr lang="en-US" sz="2000" b="1" dirty="0" err="1" smtClean="0">
                <a:latin typeface="Consolas" panose="020B0609020204030204" pitchFamily="49" charset="0"/>
              </a:rPr>
              <a:t>asmt.view</a:t>
            </a:r>
            <a:r>
              <a:rPr lang="en-US" sz="2000" b="1" dirty="0" smtClean="0">
                <a:latin typeface="Consolas" panose="020B0609020204030204" pitchFamily="49" charset="0"/>
              </a:rPr>
              <a:t> + ‘ a, ‘ </a:t>
            </a:r>
          </a:p>
          <a:p>
            <a:r>
              <a:rPr lang="en-US" sz="2000" b="1" dirty="0" smtClean="0">
                <a:latin typeface="Consolas" panose="020B0609020204030204" pitchFamily="49" charset="0"/>
              </a:rPr>
              <a:t>                              + </a:t>
            </a:r>
            <a:r>
              <a:rPr lang="en-US" sz="2000" b="1" dirty="0" err="1" smtClean="0">
                <a:latin typeface="Consolas" panose="020B0609020204030204" pitchFamily="49" charset="0"/>
              </a:rPr>
              <a:t>posi.view</a:t>
            </a:r>
            <a:r>
              <a:rPr lang="en-US" sz="2000" b="1" dirty="0" smtClean="0">
                <a:latin typeface="Consolas" panose="020B0609020204030204" pitchFamily="49" charset="0"/>
              </a:rPr>
              <a:t> + ‘p, ’ 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b="1" dirty="0" smtClean="0">
                <a:latin typeface="Consolas" panose="020B0609020204030204" pitchFamily="49" charset="0"/>
              </a:rPr>
              <a:t>             ‘where </a:t>
            </a:r>
            <a:r>
              <a:rPr lang="en-US" sz="2000" b="1" dirty="0" err="1" smtClean="0">
                <a:latin typeface="Consolas" panose="020B0609020204030204" pitchFamily="49" charset="0"/>
              </a:rPr>
              <a:t>a.MetLifeAssetID</a:t>
            </a:r>
            <a:r>
              <a:rPr lang="en-US" sz="2000" b="1" dirty="0" smtClean="0">
                <a:latin typeface="Consolas" panose="020B0609020204030204" pitchFamily="49" charset="0"/>
              </a:rPr>
              <a:t> = </a:t>
            </a:r>
            <a:r>
              <a:rPr lang="en-US" sz="2000" b="1" dirty="0" err="1" smtClean="0">
                <a:latin typeface="Consolas" panose="020B0609020204030204" pitchFamily="49" charset="0"/>
              </a:rPr>
              <a:t>p.MetLifeAssetID</a:t>
            </a:r>
            <a:r>
              <a:rPr lang="en-US" sz="2000" b="1" dirty="0" smtClean="0">
                <a:latin typeface="Consolas" panose="020B0609020204030204" pitchFamily="49" charset="0"/>
              </a:rPr>
              <a:t>’)</a:t>
            </a: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endParaRPr lang="en-US" sz="2000" b="1" dirty="0" smtClean="0">
              <a:latin typeface="Consolas" panose="020B0609020204030204" pitchFamily="49" charset="0"/>
            </a:endParaRPr>
          </a:p>
          <a:p>
            <a:r>
              <a:rPr lang="en-US" sz="2000" b="1" dirty="0" err="1">
                <a:latin typeface="Consolas" panose="020B0609020204030204" pitchFamily="49" charset="0"/>
              </a:rPr>
              <a:t>n</a:t>
            </a:r>
            <a:r>
              <a:rPr lang="en-US" sz="2000" b="1" dirty="0" err="1" smtClean="0">
                <a:latin typeface="Consolas" panose="020B0609020204030204" pitchFamily="49" charset="0"/>
              </a:rPr>
              <a:t>b.store_curated_df</a:t>
            </a:r>
            <a:r>
              <a:rPr lang="en-US" sz="2000" b="1" dirty="0" smtClean="0">
                <a:latin typeface="Consolas" panose="020B0609020204030204" pitchFamily="49" charset="0"/>
              </a:rPr>
              <a:t>(joined)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GDF Notebook Definition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r>
              <a:rPr lang="en-US" dirty="0" smtClean="0"/>
              <a:t>Is where you specify how to create the derived dataframe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272533" y="348163"/>
            <a:ext cx="2669597" cy="766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This creates the GDF Notebook Object</a:t>
            </a:r>
          </a:p>
        </p:txBody>
      </p:sp>
      <p:cxnSp>
        <p:nvCxnSpPr>
          <p:cNvPr id="9" name="Straight Arrow Connector 8"/>
          <p:cNvCxnSpPr>
            <a:stCxn id="8" idx="1"/>
          </p:cNvCxnSpPr>
          <p:nvPr/>
        </p:nvCxnSpPr>
        <p:spPr>
          <a:xfrm flipH="1">
            <a:off x="2661138" y="731616"/>
            <a:ext cx="3611395" cy="1589553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72554" y="1641856"/>
            <a:ext cx="2930631" cy="9489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Here we retrieve the asset master and Positions GRID Dataframes</a:t>
            </a:r>
          </a:p>
        </p:txBody>
      </p:sp>
      <p:cxnSp>
        <p:nvCxnSpPr>
          <p:cNvPr id="14" name="Straight Arrow Connector 13"/>
          <p:cNvCxnSpPr>
            <a:stCxn id="13" idx="1"/>
          </p:cNvCxnSpPr>
          <p:nvPr/>
        </p:nvCxnSpPr>
        <p:spPr>
          <a:xfrm flipH="1">
            <a:off x="5040923" y="2116328"/>
            <a:ext cx="1031631" cy="873057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33588" y="2863484"/>
            <a:ext cx="2669597" cy="766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Use Spark-SQL to join the 2 dataframes </a:t>
            </a: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>
            <a:off x="5568462" y="3246937"/>
            <a:ext cx="765126" cy="527894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3" idx="1"/>
          </p:cNvCxnSpPr>
          <p:nvPr/>
        </p:nvCxnSpPr>
        <p:spPr>
          <a:xfrm flipH="1">
            <a:off x="5040923" y="2116328"/>
            <a:ext cx="1031631" cy="1283364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67754" y="4842944"/>
            <a:ext cx="3081279" cy="10112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Finally persist the result to be returned to whomever requested the data</a:t>
            </a:r>
          </a:p>
        </p:txBody>
      </p:sp>
      <p:cxnSp>
        <p:nvCxnSpPr>
          <p:cNvPr id="29" name="Straight Arrow Connector 28"/>
          <p:cNvCxnSpPr>
            <a:stCxn id="28" idx="1"/>
          </p:cNvCxnSpPr>
          <p:nvPr/>
        </p:nvCxnSpPr>
        <p:spPr>
          <a:xfrm flipH="1">
            <a:off x="4302369" y="5348561"/>
            <a:ext cx="1465385" cy="196454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42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App Notebooks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Use App Notebooks to consume data for an application specific purpose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48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67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 Notebooks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724" y="895881"/>
            <a:ext cx="5193322" cy="57843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15692" y="2309446"/>
            <a:ext cx="1175354" cy="22977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3550" y="1738872"/>
            <a:ext cx="2074174" cy="3454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These are the App Notebooks</a:t>
            </a:r>
          </a:p>
          <a:p>
            <a:pPr algn="ctr"/>
            <a:endParaRPr lang="en-US" sz="1600" b="1" dirty="0"/>
          </a:p>
          <a:p>
            <a:pPr algn="ctr"/>
            <a:r>
              <a:rPr lang="en-US" sz="1600" b="1" dirty="0" smtClean="0"/>
              <a:t>App Notebooks are the last layer of Notebooks</a:t>
            </a:r>
          </a:p>
          <a:p>
            <a:pPr algn="ctr"/>
            <a:endParaRPr lang="en-US" sz="1600" b="1" dirty="0"/>
          </a:p>
          <a:p>
            <a:pPr algn="ctr"/>
            <a:r>
              <a:rPr lang="en-US" sz="1600" b="1" dirty="0" smtClean="0"/>
              <a:t>An App Notebook’s job is to consume GRID Dataframes and then deliver the result to a target.</a:t>
            </a:r>
          </a:p>
        </p:txBody>
      </p:sp>
      <p:cxnSp>
        <p:nvCxnSpPr>
          <p:cNvPr id="9" name="Straight Arrow Connector 8"/>
          <p:cNvCxnSpPr>
            <a:stCxn id="8" idx="3"/>
            <a:endCxn id="7" idx="1"/>
          </p:cNvCxnSpPr>
          <p:nvPr/>
        </p:nvCxnSpPr>
        <p:spPr>
          <a:xfrm flipV="1">
            <a:off x="2297724" y="3458308"/>
            <a:ext cx="4017968" cy="7790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29" y="2338101"/>
            <a:ext cx="1277074" cy="22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37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3508" y="1119173"/>
            <a:ext cx="8581720" cy="5053407"/>
          </a:xfrm>
        </p:spPr>
        <p:txBody>
          <a:bodyPr/>
          <a:lstStyle/>
          <a:p>
            <a:r>
              <a:rPr lang="en-US" dirty="0" smtClean="0"/>
              <a:t>Example </a:t>
            </a:r>
            <a:r>
              <a:rPr lang="en-US" dirty="0" smtClean="0"/>
              <a:t>App Notebook registry:</a:t>
            </a:r>
            <a:endParaRPr lang="en-US" dirty="0" smtClean="0"/>
          </a:p>
          <a:p>
            <a:pPr lvl="1" indent="0">
              <a:buNone/>
            </a:pPr>
            <a:endParaRPr lang="en-US" dirty="0"/>
          </a:p>
          <a:p>
            <a:pPr marL="473869" lvl="1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lvl="1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 Notebook Registry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79231" y="2267280"/>
            <a:ext cx="7969802" cy="18475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"</a:t>
            </a:r>
            <a:r>
              <a:rPr lang="en-US" sz="1600" dirty="0">
                <a:latin typeface="Consolas" panose="020B0609020204030204" pitchFamily="49" charset="0"/>
              </a:rPr>
              <a:t>name": </a:t>
            </a:r>
            <a:r>
              <a:rPr lang="en-US" sz="1600" dirty="0" smtClean="0">
                <a:latin typeface="Consolas" panose="020B0609020204030204" pitchFamily="49" charset="0"/>
              </a:rPr>
              <a:t>“</a:t>
            </a:r>
            <a:r>
              <a:rPr lang="en-US" sz="1600" dirty="0" err="1" smtClean="0">
                <a:latin typeface="Consolas" panose="020B0609020204030204" pitchFamily="49" charset="0"/>
              </a:rPr>
              <a:t>load_loan_list_to_dos</a:t>
            </a:r>
            <a:r>
              <a:rPr lang="en-US" sz="1600" dirty="0" smtClean="0">
                <a:latin typeface="Consolas" panose="020B0609020204030204" pitchFamily="49" charset="0"/>
              </a:rPr>
              <a:t>",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smtClean="0">
                <a:latin typeface="Consolas" panose="020B0609020204030204" pitchFamily="49" charset="0"/>
              </a:rPr>
              <a:t>   </a:t>
            </a:r>
            <a:r>
              <a:rPr lang="en-US" sz="1600" dirty="0">
                <a:latin typeface="Consolas" panose="020B0609020204030204" pitchFamily="49" charset="0"/>
              </a:rPr>
              <a:t>"</a:t>
            </a:r>
            <a:r>
              <a:rPr lang="en-US" sz="1600" dirty="0" err="1">
                <a:latin typeface="Consolas" panose="020B0609020204030204" pitchFamily="49" charset="0"/>
              </a:rPr>
              <a:t>dependsOn</a:t>
            </a:r>
            <a:r>
              <a:rPr lang="en-US" sz="1600" dirty="0">
                <a:latin typeface="Consolas" panose="020B0609020204030204" pitchFamily="49" charset="0"/>
              </a:rPr>
              <a:t>": ["</a:t>
            </a:r>
            <a:r>
              <a:rPr lang="en-US" sz="1600" dirty="0" err="1" smtClean="0">
                <a:latin typeface="Consolas" panose="020B0609020204030204" pitchFamily="49" charset="0"/>
              </a:rPr>
              <a:t>coml_asmt_posi_df</a:t>
            </a:r>
            <a:r>
              <a:rPr lang="en-US" sz="1600" dirty="0" smtClean="0">
                <a:latin typeface="Consolas" panose="020B0609020204030204" pitchFamily="49" charset="0"/>
              </a:rPr>
              <a:t>"],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smtClean="0">
                <a:latin typeface="Consolas" panose="020B0609020204030204" pitchFamily="49" charset="0"/>
              </a:rPr>
              <a:t>   "</a:t>
            </a:r>
            <a:r>
              <a:rPr lang="en-US" sz="1600" dirty="0">
                <a:latin typeface="Consolas" panose="020B0609020204030204" pitchFamily="49" charset="0"/>
              </a:rPr>
              <a:t>job":"/</a:t>
            </a:r>
            <a:r>
              <a:rPr lang="en-US" sz="1600" dirty="0" smtClean="0">
                <a:latin typeface="Consolas" panose="020B0609020204030204" pitchFamily="49" charset="0"/>
              </a:rPr>
              <a:t>Shared/</a:t>
            </a:r>
            <a:r>
              <a:rPr lang="en-US" sz="1600" dirty="0" err="1" smtClean="0">
                <a:latin typeface="Consolas" panose="020B0609020204030204" pitchFamily="49" charset="0"/>
              </a:rPr>
              <a:t>dff</a:t>
            </a:r>
            <a:r>
              <a:rPr lang="en-US" sz="1600" dirty="0" smtClean="0">
                <a:latin typeface="Consolas" panose="020B0609020204030204" pitchFamily="49" charset="0"/>
              </a:rPr>
              <a:t>/</a:t>
            </a:r>
            <a:r>
              <a:rPr lang="en-US" sz="1600" dirty="0" err="1" smtClean="0">
                <a:latin typeface="Consolas" panose="020B0609020204030204" pitchFamily="49" charset="0"/>
              </a:rPr>
              <a:t>ordz</a:t>
            </a:r>
            <a:r>
              <a:rPr lang="en-US" sz="1600" dirty="0" smtClean="0">
                <a:latin typeface="Consolas" panose="020B0609020204030204" pitchFamily="49" charset="0"/>
              </a:rPr>
              <a:t>/</a:t>
            </a:r>
            <a:r>
              <a:rPr lang="en-US" sz="1600" dirty="0" err="1" smtClean="0">
                <a:latin typeface="Consolas" panose="020B0609020204030204" pitchFamily="49" charset="0"/>
              </a:rPr>
              <a:t>load_coml_asmt_posi_to_dos</a:t>
            </a:r>
            <a:r>
              <a:rPr lang="en-US" sz="1600" dirty="0" smtClean="0">
                <a:latin typeface="Consolas" panose="020B0609020204030204" pitchFamily="49" charset="0"/>
              </a:rPr>
              <a:t>,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latin typeface="Consolas" panose="020B0609020204030204" pitchFamily="49" charset="0"/>
              </a:rPr>
              <a:t>“description” : </a:t>
            </a:r>
            <a:r>
              <a:rPr lang="en-US" sz="1600" dirty="0" smtClean="0">
                <a:latin typeface="Consolas" panose="020B0609020204030204" pitchFamily="49" charset="0"/>
              </a:rPr>
              <a:t>“app to load </a:t>
            </a:r>
            <a:r>
              <a:rPr lang="en-US" sz="1600" dirty="0" err="1" smtClean="0">
                <a:latin typeface="Consolas" panose="020B0609020204030204" pitchFamily="49" charset="0"/>
              </a:rPr>
              <a:t>asmt_posi</a:t>
            </a:r>
            <a:r>
              <a:rPr lang="en-US" sz="1600" dirty="0" smtClean="0">
                <a:latin typeface="Consolas" panose="020B0609020204030204" pitchFamily="49" charset="0"/>
              </a:rPr>
              <a:t> to dos”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},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72416" y="4910458"/>
            <a:ext cx="2262554" cy="46892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DOS</a:t>
            </a:r>
            <a:endParaRPr lang="en-US" b="1" dirty="0"/>
          </a:p>
        </p:txBody>
      </p:sp>
      <p:cxnSp>
        <p:nvCxnSpPr>
          <p:cNvPr id="13" name="Straight Arrow Connector 12"/>
          <p:cNvCxnSpPr>
            <a:stCxn id="18" idx="3"/>
            <a:endCxn id="12" idx="1"/>
          </p:cNvCxnSpPr>
          <p:nvPr/>
        </p:nvCxnSpPr>
        <p:spPr>
          <a:xfrm>
            <a:off x="3495323" y="5142179"/>
            <a:ext cx="2377093" cy="2741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20" idx="2"/>
          </p:cNvCxnSpPr>
          <p:nvPr/>
        </p:nvCxnSpPr>
        <p:spPr>
          <a:xfrm flipH="1">
            <a:off x="5235952" y="2267280"/>
            <a:ext cx="2030913" cy="2115262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32066" y="380439"/>
            <a:ext cx="2669597" cy="18868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600" b="1" dirty="0" smtClean="0"/>
              <a:t>This specifies the “job” to run to </a:t>
            </a:r>
            <a:r>
              <a:rPr lang="en-US" sz="1600" b="1" dirty="0" smtClean="0"/>
              <a:t>consume data in order to load to som</a:t>
            </a:r>
            <a:r>
              <a:rPr lang="en-US" sz="1600" b="1" dirty="0" smtClean="0"/>
              <a:t>e target</a:t>
            </a:r>
            <a:endParaRPr lang="en-US" sz="1600" b="1" dirty="0" smtClean="0"/>
          </a:p>
          <a:p>
            <a:pPr algn="ctr"/>
            <a:endParaRPr lang="en-US" sz="1600" b="1" dirty="0"/>
          </a:p>
          <a:p>
            <a:pPr algn="ctr"/>
            <a:r>
              <a:rPr lang="en-US" sz="1600" b="1" dirty="0" smtClean="0"/>
              <a:t>A “job” is a Databricks </a:t>
            </a:r>
            <a:r>
              <a:rPr lang="en-US" sz="1600" b="1" dirty="0" smtClean="0"/>
              <a:t>App Notebook</a:t>
            </a:r>
            <a:endParaRPr lang="en-US" sz="1600" b="1" dirty="0" smtClean="0"/>
          </a:p>
        </p:txBody>
      </p:sp>
      <p:sp>
        <p:nvSpPr>
          <p:cNvPr id="26" name="Rectangle 25"/>
          <p:cNvSpPr/>
          <p:nvPr/>
        </p:nvSpPr>
        <p:spPr>
          <a:xfrm>
            <a:off x="1933195" y="3191040"/>
            <a:ext cx="4280036" cy="2669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Vertical Scroll 8"/>
          <p:cNvSpPr/>
          <p:nvPr/>
        </p:nvSpPr>
        <p:spPr>
          <a:xfrm>
            <a:off x="3860584" y="4419600"/>
            <a:ext cx="1532031" cy="1535723"/>
          </a:xfrm>
          <a:prstGeom prst="verticalScroll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tx1"/>
                </a:solidFill>
              </a:rPr>
              <a:t>Notebook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5704925" y="2289544"/>
            <a:ext cx="1508676" cy="923144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32769" y="4907717"/>
            <a:ext cx="2262554" cy="4689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coml_asmt_posi_df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601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1465" y="1153106"/>
            <a:ext cx="8581720" cy="523128"/>
          </a:xfrm>
        </p:spPr>
        <p:txBody>
          <a:bodyPr/>
          <a:lstStyle/>
          <a:p>
            <a:r>
              <a:rPr lang="en-US" dirty="0" smtClean="0"/>
              <a:t>Example of writing loan data to Cosmos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465" y="1846787"/>
            <a:ext cx="8427568" cy="42859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0" rIns="91440" bIns="0" rtlCol="0" anchor="t">
            <a:noAutofit/>
          </a:bodyPr>
          <a:lstStyle/>
          <a:p>
            <a:endParaRPr lang="en-US" sz="2000" b="1" dirty="0" smtClean="0">
              <a:latin typeface="Consolas" panose="020B0609020204030204" pitchFamily="49" charset="0"/>
            </a:endParaRPr>
          </a:p>
          <a:p>
            <a:r>
              <a:rPr lang="en-US" sz="2000" b="1" dirty="0" smtClean="0">
                <a:latin typeface="Consolas" panose="020B0609020204030204" pitchFamily="49" charset="0"/>
              </a:rPr>
              <a:t># retrieve the asset master positions data</a:t>
            </a:r>
          </a:p>
          <a:p>
            <a:r>
              <a:rPr lang="en-US" sz="2000" b="1" dirty="0" err="1">
                <a:latin typeface="Consolas" panose="020B0609020204030204" pitchFamily="49" charset="0"/>
              </a:rPr>
              <a:t>a</a:t>
            </a:r>
            <a:r>
              <a:rPr lang="en-US" sz="2000" b="1" dirty="0" err="1" smtClean="0">
                <a:latin typeface="Consolas" panose="020B0609020204030204" pitchFamily="49" charset="0"/>
              </a:rPr>
              <a:t>smt_posi</a:t>
            </a:r>
            <a:r>
              <a:rPr lang="en-US" sz="2000" b="1" dirty="0" smtClean="0">
                <a:latin typeface="Consolas" panose="020B0609020204030204" pitchFamily="49" charset="0"/>
              </a:rPr>
              <a:t> = </a:t>
            </a:r>
            <a:r>
              <a:rPr lang="en-US" sz="2000" b="1" dirty="0" err="1" smtClean="0">
                <a:latin typeface="Consolas" panose="020B0609020204030204" pitchFamily="49" charset="0"/>
              </a:rPr>
              <a:t>nb.get_df</a:t>
            </a:r>
            <a:r>
              <a:rPr lang="en-US" sz="2000" b="1" dirty="0">
                <a:latin typeface="Consolas" panose="020B0609020204030204" pitchFamily="49" charset="0"/>
              </a:rPr>
              <a:t>(‘</a:t>
            </a:r>
            <a:r>
              <a:rPr lang="en-US" sz="2000" b="1" dirty="0" err="1">
                <a:latin typeface="Consolas" panose="020B0609020204030204" pitchFamily="49" charset="0"/>
              </a:rPr>
              <a:t>coml_asmt_posi_df</a:t>
            </a:r>
            <a:r>
              <a:rPr lang="en-US" sz="2000" b="1" dirty="0" smtClean="0">
                <a:latin typeface="Consolas" panose="020B0609020204030204" pitchFamily="49" charset="0"/>
              </a:rPr>
              <a:t>’)</a:t>
            </a: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</a:rPr>
              <a:t># Write </a:t>
            </a:r>
            <a:r>
              <a:rPr lang="en-US" sz="2000" b="1" dirty="0" smtClean="0">
                <a:latin typeface="Consolas" panose="020B0609020204030204" pitchFamily="49" charset="0"/>
              </a:rPr>
              <a:t>the new </a:t>
            </a:r>
            <a:r>
              <a:rPr lang="en-US" sz="2000" b="1" dirty="0" err="1" smtClean="0">
                <a:latin typeface="Consolas" panose="020B0609020204030204" pitchFamily="49" charset="0"/>
              </a:rPr>
              <a:t>asmt_posi</a:t>
            </a:r>
            <a:r>
              <a:rPr lang="en-US" sz="2000" b="1" dirty="0" smtClean="0">
                <a:latin typeface="Consolas" panose="020B0609020204030204" pitchFamily="49" charset="0"/>
              </a:rPr>
              <a:t> dataframe to </a:t>
            </a:r>
            <a:r>
              <a:rPr lang="en-US" sz="2000" b="1" dirty="0">
                <a:latin typeface="Consolas" panose="020B0609020204030204" pitchFamily="49" charset="0"/>
              </a:rPr>
              <a:t>Cosmos DB </a:t>
            </a:r>
            <a:endParaRPr lang="en-US" sz="2000" b="1" dirty="0" smtClean="0">
              <a:latin typeface="Consolas" panose="020B0609020204030204" pitchFamily="49" charset="0"/>
            </a:endParaRPr>
          </a:p>
          <a:p>
            <a:r>
              <a:rPr lang="en-US" sz="2000" b="1" dirty="0" err="1" smtClean="0">
                <a:latin typeface="Consolas" panose="020B0609020204030204" pitchFamily="49" charset="0"/>
              </a:rPr>
              <a:t>asmt_posi.write</a:t>
            </a:r>
            <a:r>
              <a:rPr lang="en-US" sz="2000" b="1" dirty="0" smtClean="0">
                <a:latin typeface="Consolas" panose="020B0609020204030204" pitchFamily="49" charset="0"/>
              </a:rPr>
              <a:t>  \ 	.format</a:t>
            </a:r>
            <a:r>
              <a:rPr lang="en-US" sz="2000" b="1" dirty="0">
                <a:latin typeface="Consolas" panose="020B0609020204030204" pitchFamily="49" charset="0"/>
              </a:rPr>
              <a:t>("</a:t>
            </a:r>
            <a:r>
              <a:rPr lang="en-US" sz="2000" b="1" dirty="0" err="1">
                <a:latin typeface="Consolas" panose="020B0609020204030204" pitchFamily="49" charset="0"/>
              </a:rPr>
              <a:t>com.microsoft.azure.cosmosdb.spark</a:t>
            </a:r>
            <a:r>
              <a:rPr lang="en-US" sz="2000" b="1" dirty="0" smtClean="0">
                <a:latin typeface="Consolas" panose="020B0609020204030204" pitchFamily="49" charset="0"/>
              </a:rPr>
              <a:t>")  \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</a:t>
            </a:r>
            <a:r>
              <a:rPr lang="en-US" sz="2000" b="1" dirty="0" smtClean="0">
                <a:latin typeface="Consolas" panose="020B0609020204030204" pitchFamily="49" charset="0"/>
              </a:rPr>
              <a:t>.options</a:t>
            </a:r>
            <a:r>
              <a:rPr lang="en-US" sz="2000" b="1" dirty="0">
                <a:latin typeface="Consolas" panose="020B0609020204030204" pitchFamily="49" charset="0"/>
              </a:rPr>
              <a:t>(**</a:t>
            </a:r>
            <a:r>
              <a:rPr lang="en-US" sz="2000" b="1" i="1" dirty="0" err="1">
                <a:latin typeface="Consolas" panose="020B0609020204030204" pitchFamily="49" charset="0"/>
              </a:rPr>
              <a:t>writeConfig</a:t>
            </a:r>
            <a:r>
              <a:rPr lang="en-US" sz="2000" b="1" dirty="0" smtClean="0">
                <a:latin typeface="Consolas" panose="020B0609020204030204" pitchFamily="49" charset="0"/>
              </a:rPr>
              <a:t>)  \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	</a:t>
            </a:r>
            <a:r>
              <a:rPr lang="en-US" sz="2000" b="1" dirty="0" smtClean="0">
                <a:latin typeface="Consolas" panose="020B0609020204030204" pitchFamily="49" charset="0"/>
              </a:rPr>
              <a:t>.save</a:t>
            </a:r>
            <a:r>
              <a:rPr lang="en-US" sz="2000" b="1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GDF App Notebook Definition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9" y="804032"/>
            <a:ext cx="8584184" cy="311037"/>
          </a:xfrm>
        </p:spPr>
        <p:txBody>
          <a:bodyPr/>
          <a:lstStyle/>
          <a:p>
            <a:r>
              <a:rPr lang="en-US" dirty="0" smtClean="0"/>
              <a:t>App Notebook to retrieve data from a DataFrame and then write to a target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4173415" y="4278923"/>
            <a:ext cx="1607436" cy="852188"/>
          </a:xfrm>
          <a:prstGeom prst="straightConnector1">
            <a:avLst/>
          </a:prstGeom>
          <a:ln w="22225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80851" y="4396056"/>
            <a:ext cx="2669597" cy="147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1600" b="1" i="1" dirty="0" err="1" smtClean="0"/>
              <a:t>writeConfig</a:t>
            </a:r>
            <a:r>
              <a:rPr lang="en-US" sz="1600" b="1" dirty="0" smtClean="0"/>
              <a:t> specifies the instance of Cosmos DB to connect &amp; provides credentials</a:t>
            </a:r>
          </a:p>
        </p:txBody>
      </p:sp>
    </p:spTree>
    <p:extLst>
      <p:ext uri="{BB962C8B-B14F-4D97-AF65-F5344CB8AC3E}">
        <p14:creationId xmlns:p14="http://schemas.microsoft.com/office/powerpoint/2010/main" val="365568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52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the GDF to apply</a:t>
            </a:r>
            <a:br>
              <a:rPr lang="en-US" dirty="0" smtClean="0"/>
            </a:br>
            <a:r>
              <a:rPr lang="en-US" dirty="0" smtClean="0"/>
              <a:t>Data Adjustments and</a:t>
            </a:r>
            <a:br>
              <a:rPr lang="en-US" dirty="0" smtClean="0"/>
            </a:br>
            <a:r>
              <a:rPr lang="en-US" dirty="0" smtClean="0"/>
              <a:t>Data Translations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56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288687" cy="657953"/>
          </a:xfrm>
        </p:spPr>
        <p:txBody>
          <a:bodyPr/>
          <a:lstStyle/>
          <a:p>
            <a:r>
              <a:rPr lang="en-US" dirty="0" smtClean="0"/>
              <a:t>Sample Report to be adjusted/translated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8" y="857363"/>
            <a:ext cx="8292997" cy="311037"/>
          </a:xfrm>
        </p:spPr>
        <p:txBody>
          <a:bodyPr/>
          <a:lstStyle/>
          <a:p>
            <a:r>
              <a:rPr lang="en-US" dirty="0" smtClean="0"/>
              <a:t>Subset of commercial loan asset position records, extracted to a CSV file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1137139" y="1387412"/>
          <a:ext cx="6940062" cy="4892494"/>
        </p:xfrm>
        <a:graphic>
          <a:graphicData uri="http://schemas.openxmlformats.org/drawingml/2006/table">
            <a:tbl>
              <a:tblPr/>
              <a:tblGrid>
                <a:gridCol w="1169439">
                  <a:extLst>
                    <a:ext uri="{9D8B030D-6E8A-4147-A177-3AD203B41FA5}">
                      <a16:colId xmlns:a16="http://schemas.microsoft.com/office/drawing/2014/main" val="2156584810"/>
                    </a:ext>
                  </a:extLst>
                </a:gridCol>
                <a:gridCol w="991934">
                  <a:extLst>
                    <a:ext uri="{9D8B030D-6E8A-4147-A177-3AD203B41FA5}">
                      <a16:colId xmlns:a16="http://schemas.microsoft.com/office/drawing/2014/main" val="3939765321"/>
                    </a:ext>
                  </a:extLst>
                </a:gridCol>
                <a:gridCol w="1406110">
                  <a:extLst>
                    <a:ext uri="{9D8B030D-6E8A-4147-A177-3AD203B41FA5}">
                      <a16:colId xmlns:a16="http://schemas.microsoft.com/office/drawing/2014/main" val="1648653795"/>
                    </a:ext>
                  </a:extLst>
                </a:gridCol>
                <a:gridCol w="960611">
                  <a:extLst>
                    <a:ext uri="{9D8B030D-6E8A-4147-A177-3AD203B41FA5}">
                      <a16:colId xmlns:a16="http://schemas.microsoft.com/office/drawing/2014/main" val="1332111730"/>
                    </a:ext>
                  </a:extLst>
                </a:gridCol>
                <a:gridCol w="1117232">
                  <a:extLst>
                    <a:ext uri="{9D8B030D-6E8A-4147-A177-3AD203B41FA5}">
                      <a16:colId xmlns:a16="http://schemas.microsoft.com/office/drawing/2014/main" val="2615948732"/>
                    </a:ext>
                  </a:extLst>
                </a:gridCol>
                <a:gridCol w="1294736">
                  <a:extLst>
                    <a:ext uri="{9D8B030D-6E8A-4147-A177-3AD203B41FA5}">
                      <a16:colId xmlns:a16="http://schemas.microsoft.com/office/drawing/2014/main" val="1047091547"/>
                    </a:ext>
                  </a:extLst>
                </a:gridCol>
              </a:tblGrid>
              <a:tr h="4659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MetLifeAssetID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PortfolioCode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PrincipalBalance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MetLifeInterestTypeCode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MetLifeRatingLoanToValueRatio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524110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6715146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LN_0000702920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3729738.55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847888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LN_0000701890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202282.09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933060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908155.99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989978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LN_0000702359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8920737.37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213220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39999999.15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149622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LN_0000520115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7000000.50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25627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509985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LN_0000520099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440274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LN_0000701895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244545.86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961595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LN_0000702521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45398618.77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45801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LN_0000520120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48500000.30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530676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LN_0000702686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15349627.39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86081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2986402.19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446572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21900000.79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53589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480025.31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260845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LN_0000702609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8850000.00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409048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LN_0000701746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1211250.60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167189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17200000.30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275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39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4135" y="135559"/>
            <a:ext cx="8766070" cy="657953"/>
          </a:xfrm>
        </p:spPr>
        <p:txBody>
          <a:bodyPr/>
          <a:lstStyle/>
          <a:p>
            <a:r>
              <a:rPr lang="en-US" dirty="0" smtClean="0"/>
              <a:t>Example data adjustments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1137139" y="1402264"/>
          <a:ext cx="6940062" cy="4892494"/>
        </p:xfrm>
        <a:graphic>
          <a:graphicData uri="http://schemas.openxmlformats.org/drawingml/2006/table">
            <a:tbl>
              <a:tblPr/>
              <a:tblGrid>
                <a:gridCol w="1169439">
                  <a:extLst>
                    <a:ext uri="{9D8B030D-6E8A-4147-A177-3AD203B41FA5}">
                      <a16:colId xmlns:a16="http://schemas.microsoft.com/office/drawing/2014/main" val="2156584810"/>
                    </a:ext>
                  </a:extLst>
                </a:gridCol>
                <a:gridCol w="991934">
                  <a:extLst>
                    <a:ext uri="{9D8B030D-6E8A-4147-A177-3AD203B41FA5}">
                      <a16:colId xmlns:a16="http://schemas.microsoft.com/office/drawing/2014/main" val="3939765321"/>
                    </a:ext>
                  </a:extLst>
                </a:gridCol>
                <a:gridCol w="1406110">
                  <a:extLst>
                    <a:ext uri="{9D8B030D-6E8A-4147-A177-3AD203B41FA5}">
                      <a16:colId xmlns:a16="http://schemas.microsoft.com/office/drawing/2014/main" val="1648653795"/>
                    </a:ext>
                  </a:extLst>
                </a:gridCol>
                <a:gridCol w="960611">
                  <a:extLst>
                    <a:ext uri="{9D8B030D-6E8A-4147-A177-3AD203B41FA5}">
                      <a16:colId xmlns:a16="http://schemas.microsoft.com/office/drawing/2014/main" val="1332111730"/>
                    </a:ext>
                  </a:extLst>
                </a:gridCol>
                <a:gridCol w="1117232">
                  <a:extLst>
                    <a:ext uri="{9D8B030D-6E8A-4147-A177-3AD203B41FA5}">
                      <a16:colId xmlns:a16="http://schemas.microsoft.com/office/drawing/2014/main" val="2615948732"/>
                    </a:ext>
                  </a:extLst>
                </a:gridCol>
                <a:gridCol w="1294736">
                  <a:extLst>
                    <a:ext uri="{9D8B030D-6E8A-4147-A177-3AD203B41FA5}">
                      <a16:colId xmlns:a16="http://schemas.microsoft.com/office/drawing/2014/main" val="1047091547"/>
                    </a:ext>
                  </a:extLst>
                </a:gridCol>
              </a:tblGrid>
              <a:tr h="4659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MetLifeAssetID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PortfolioCode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PrincipalBalance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MetLifeInterestTypeCode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MetLifeRatingLoanToValueRatio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524110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6715146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LN_0000702920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3729738.55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847888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LN_0000701890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202282.09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933060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908155.99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989978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LN_0000702359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8920737.37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213220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39999999.15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149622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LN_0000520115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7000000.50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25627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509985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LN_0000520099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440274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LN_0000701895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244545.86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961595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LN_0000702521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45398618.77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45801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LN_0000520120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48500000.30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530676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LN_0000702686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15349627.39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86081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2986402.19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446572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21900000.79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53589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480025.31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260845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LN_0000702609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8850000.00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409048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LN_0000701746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1211250.60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167189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17200000.30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27592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950678" y="3512418"/>
            <a:ext cx="738553" cy="210255"/>
          </a:xfrm>
          <a:prstGeom prst="rect">
            <a:avLst/>
          </a:prstGeom>
          <a:solidFill>
            <a:srgbClr val="FFFF0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962401" y="5376387"/>
            <a:ext cx="738553" cy="210255"/>
          </a:xfrm>
          <a:prstGeom prst="rect">
            <a:avLst/>
          </a:prstGeom>
          <a:solidFill>
            <a:srgbClr val="FFFF0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62401" y="5610972"/>
            <a:ext cx="738553" cy="210255"/>
          </a:xfrm>
          <a:prstGeom prst="rect">
            <a:avLst/>
          </a:prstGeom>
          <a:solidFill>
            <a:srgbClr val="FFFF0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514494" y="5400717"/>
            <a:ext cx="738553" cy="210255"/>
          </a:xfrm>
          <a:prstGeom prst="rect">
            <a:avLst/>
          </a:prstGeom>
          <a:solidFill>
            <a:srgbClr val="FFFF0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50677" y="3090369"/>
            <a:ext cx="738553" cy="210255"/>
          </a:xfrm>
          <a:prstGeom prst="rect">
            <a:avLst/>
          </a:prstGeom>
          <a:solidFill>
            <a:srgbClr val="FFFF0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479323" y="3302163"/>
            <a:ext cx="738553" cy="210255"/>
          </a:xfrm>
          <a:prstGeom prst="rect">
            <a:avLst/>
          </a:prstGeom>
          <a:solidFill>
            <a:srgbClr val="FFFF0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48151" y="1711569"/>
            <a:ext cx="1524000" cy="5392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Change to 40000000.00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2" idx="3"/>
          </p:cNvCxnSpPr>
          <p:nvPr/>
        </p:nvCxnSpPr>
        <p:spPr>
          <a:xfrm>
            <a:off x="2872151" y="1981200"/>
            <a:ext cx="1078526" cy="110916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359875" y="2474468"/>
            <a:ext cx="1735016" cy="5392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Add missing value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9999999.00</a:t>
            </a:r>
          </a:p>
        </p:txBody>
      </p:sp>
      <p:cxnSp>
        <p:nvCxnSpPr>
          <p:cNvPr id="18" name="Straight Arrow Connector 17"/>
          <p:cNvCxnSpPr>
            <a:stCxn id="17" idx="3"/>
            <a:endCxn id="10" idx="1"/>
          </p:cNvCxnSpPr>
          <p:nvPr/>
        </p:nvCxnSpPr>
        <p:spPr>
          <a:xfrm>
            <a:off x="3094891" y="2744099"/>
            <a:ext cx="855787" cy="87344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359875" y="4106205"/>
            <a:ext cx="1524000" cy="5392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Change </a:t>
            </a:r>
            <a:r>
              <a:rPr lang="en-US" dirty="0">
                <a:solidFill>
                  <a:schemeClr val="tx1"/>
                </a:solidFill>
              </a:rPr>
              <a:t>to 555555.00</a:t>
            </a:r>
          </a:p>
        </p:txBody>
      </p:sp>
      <p:cxnSp>
        <p:nvCxnSpPr>
          <p:cNvPr id="20" name="Straight Arrow Connector 19"/>
          <p:cNvCxnSpPr>
            <a:stCxn id="19" idx="3"/>
            <a:endCxn id="11" idx="1"/>
          </p:cNvCxnSpPr>
          <p:nvPr/>
        </p:nvCxnSpPr>
        <p:spPr>
          <a:xfrm>
            <a:off x="2883875" y="4375836"/>
            <a:ext cx="1078526" cy="110567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430212" y="4851960"/>
            <a:ext cx="1524000" cy="5392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Change </a:t>
            </a:r>
            <a:r>
              <a:rPr lang="en-US" dirty="0">
                <a:solidFill>
                  <a:schemeClr val="tx1"/>
                </a:solidFill>
              </a:rPr>
              <a:t>to 9999999.00</a:t>
            </a:r>
          </a:p>
        </p:txBody>
      </p:sp>
      <p:cxnSp>
        <p:nvCxnSpPr>
          <p:cNvPr id="22" name="Straight Arrow Connector 21"/>
          <p:cNvCxnSpPr>
            <a:stCxn id="21" idx="3"/>
            <a:endCxn id="12" idx="1"/>
          </p:cNvCxnSpPr>
          <p:nvPr/>
        </p:nvCxnSpPr>
        <p:spPr>
          <a:xfrm>
            <a:off x="2954212" y="5121591"/>
            <a:ext cx="1008189" cy="59450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005751" y="1931948"/>
            <a:ext cx="1524000" cy="5392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Change to 75.00</a:t>
            </a:r>
          </a:p>
        </p:txBody>
      </p:sp>
      <p:cxnSp>
        <p:nvCxnSpPr>
          <p:cNvPr id="26" name="Straight Arrow Connector 25"/>
          <p:cNvCxnSpPr>
            <a:stCxn id="25" idx="3"/>
            <a:endCxn id="15" idx="1"/>
          </p:cNvCxnSpPr>
          <p:nvPr/>
        </p:nvCxnSpPr>
        <p:spPr>
          <a:xfrm>
            <a:off x="6529751" y="2201579"/>
            <a:ext cx="949572" cy="120571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994027" y="4065711"/>
            <a:ext cx="1524000" cy="5392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Change to 66.66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7" idx="3"/>
            <a:endCxn id="13" idx="1"/>
          </p:cNvCxnSpPr>
          <p:nvPr/>
        </p:nvCxnSpPr>
        <p:spPr>
          <a:xfrm>
            <a:off x="6518027" y="4335342"/>
            <a:ext cx="996467" cy="117050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8" y="621820"/>
            <a:ext cx="8725357" cy="73857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 smtClean="0"/>
              <a:t>Adjustments are changes made to specific records – this requires a “key” to identify the specific records – in this example, </a:t>
            </a:r>
            <a:r>
              <a:rPr lang="en-US" dirty="0" err="1" smtClean="0"/>
              <a:t>MetLifeAssetID</a:t>
            </a:r>
            <a:r>
              <a:rPr lang="en-US" dirty="0" smtClean="0"/>
              <a:t> &amp; </a:t>
            </a:r>
            <a:r>
              <a:rPr lang="en-US" dirty="0" err="1" smtClean="0"/>
              <a:t>PortfolioCode</a:t>
            </a:r>
            <a:r>
              <a:rPr lang="en-US" dirty="0" smtClean="0"/>
              <a:t> are the keys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18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386861" y="1856105"/>
          <a:ext cx="8534400" cy="3674987"/>
        </p:xfrm>
        <a:graphic>
          <a:graphicData uri="http://schemas.openxmlformats.org/drawingml/2006/table">
            <a:tbl>
              <a:tblPr/>
              <a:tblGrid>
                <a:gridCol w="1707749">
                  <a:extLst>
                    <a:ext uri="{9D8B030D-6E8A-4147-A177-3AD203B41FA5}">
                      <a16:colId xmlns:a16="http://schemas.microsoft.com/office/drawing/2014/main" val="3337767118"/>
                    </a:ext>
                  </a:extLst>
                </a:gridCol>
                <a:gridCol w="1603459">
                  <a:extLst>
                    <a:ext uri="{9D8B030D-6E8A-4147-A177-3AD203B41FA5}">
                      <a16:colId xmlns:a16="http://schemas.microsoft.com/office/drawing/2014/main" val="289653177"/>
                    </a:ext>
                  </a:extLst>
                </a:gridCol>
                <a:gridCol w="1442678">
                  <a:extLst>
                    <a:ext uri="{9D8B030D-6E8A-4147-A177-3AD203B41FA5}">
                      <a16:colId xmlns:a16="http://schemas.microsoft.com/office/drawing/2014/main" val="879591698"/>
                    </a:ext>
                  </a:extLst>
                </a:gridCol>
                <a:gridCol w="1603459">
                  <a:extLst>
                    <a:ext uri="{9D8B030D-6E8A-4147-A177-3AD203B41FA5}">
                      <a16:colId xmlns:a16="http://schemas.microsoft.com/office/drawing/2014/main" val="3927605486"/>
                    </a:ext>
                  </a:extLst>
                </a:gridCol>
                <a:gridCol w="1095045">
                  <a:extLst>
                    <a:ext uri="{9D8B030D-6E8A-4147-A177-3AD203B41FA5}">
                      <a16:colId xmlns:a16="http://schemas.microsoft.com/office/drawing/2014/main" val="2730702805"/>
                    </a:ext>
                  </a:extLst>
                </a:gridCol>
                <a:gridCol w="1082010">
                  <a:extLst>
                    <a:ext uri="{9D8B030D-6E8A-4147-A177-3AD203B41FA5}">
                      <a16:colId xmlns:a16="http://schemas.microsoft.com/office/drawing/2014/main" val="3121330099"/>
                    </a:ext>
                  </a:extLst>
                </a:gridCol>
              </a:tblGrid>
              <a:tr h="8439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Key:MetLifeAssetID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Key:PortfolioCode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PrincipalBalance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MetLifeRatingLoanToValueRatio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474735"/>
                  </a:ext>
                </a:extLst>
              </a:tr>
              <a:tr h="56621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9/1/2019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312137"/>
                  </a:ext>
                </a:extLst>
              </a:tr>
              <a:tr h="56621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LN_0000520115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9/1/2019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840249"/>
                  </a:ext>
                </a:extLst>
              </a:tr>
              <a:tr h="56621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9999999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9/1/2019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970370"/>
                  </a:ext>
                </a:extLst>
              </a:tr>
              <a:tr h="56621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555555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9/1/2019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5883406"/>
                  </a:ext>
                </a:extLst>
              </a:tr>
              <a:tr h="56621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LN_0000702609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9999999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9/1/2019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10269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766070" cy="657953"/>
          </a:xfrm>
        </p:spPr>
        <p:txBody>
          <a:bodyPr/>
          <a:lstStyle/>
          <a:p>
            <a:r>
              <a:rPr lang="en-US" dirty="0" smtClean="0"/>
              <a:t>CSV file to specify data adjustments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86861" y="1168400"/>
            <a:ext cx="3249474" cy="6825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Use these columns to specify the keys to identify the specific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00231" y="1146734"/>
            <a:ext cx="2855750" cy="7042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These columns are used to specify the “adjustment”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56816" y="1064692"/>
            <a:ext cx="2215351" cy="7737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These columns define the “as of date” when the adjustment is applicable</a:t>
            </a:r>
          </a:p>
        </p:txBody>
      </p:sp>
    </p:spTree>
    <p:extLst>
      <p:ext uri="{BB962C8B-B14F-4D97-AF65-F5344CB8AC3E}">
        <p14:creationId xmlns:p14="http://schemas.microsoft.com/office/powerpoint/2010/main" val="18334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353266"/>
            <a:ext cx="8616934" cy="838525"/>
          </a:xfrm>
        </p:spPr>
        <p:txBody>
          <a:bodyPr/>
          <a:lstStyle/>
          <a:p>
            <a:r>
              <a:rPr lang="en-US" sz="2400" dirty="0"/>
              <a:t>Sample Report after applying </a:t>
            </a:r>
            <a:r>
              <a:rPr lang="en-US" sz="2400" dirty="0" smtClean="0"/>
              <a:t>data adjustments</a:t>
            </a:r>
            <a:endParaRPr lang="en-US" sz="24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691663" y="1292576"/>
          <a:ext cx="7357366" cy="4595907"/>
        </p:xfrm>
        <a:graphic>
          <a:graphicData uri="http://schemas.openxmlformats.org/drawingml/2006/table">
            <a:tbl>
              <a:tblPr/>
              <a:tblGrid>
                <a:gridCol w="1462480">
                  <a:extLst>
                    <a:ext uri="{9D8B030D-6E8A-4147-A177-3AD203B41FA5}">
                      <a16:colId xmlns:a16="http://schemas.microsoft.com/office/drawing/2014/main" val="1426587672"/>
                    </a:ext>
                  </a:extLst>
                </a:gridCol>
                <a:gridCol w="887793">
                  <a:extLst>
                    <a:ext uri="{9D8B030D-6E8A-4147-A177-3AD203B41FA5}">
                      <a16:colId xmlns:a16="http://schemas.microsoft.com/office/drawing/2014/main" val="2555074938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481925301"/>
                    </a:ext>
                  </a:extLst>
                </a:gridCol>
                <a:gridCol w="1379248">
                  <a:extLst>
                    <a:ext uri="{9D8B030D-6E8A-4147-A177-3AD203B41FA5}">
                      <a16:colId xmlns:a16="http://schemas.microsoft.com/office/drawing/2014/main" val="2834929394"/>
                    </a:ext>
                  </a:extLst>
                </a:gridCol>
                <a:gridCol w="1204862">
                  <a:extLst>
                    <a:ext uri="{9D8B030D-6E8A-4147-A177-3AD203B41FA5}">
                      <a16:colId xmlns:a16="http://schemas.microsoft.com/office/drawing/2014/main" val="2494602925"/>
                    </a:ext>
                  </a:extLst>
                </a:gridCol>
                <a:gridCol w="1414920">
                  <a:extLst>
                    <a:ext uri="{9D8B030D-6E8A-4147-A177-3AD203B41FA5}">
                      <a16:colId xmlns:a16="http://schemas.microsoft.com/office/drawing/2014/main" val="1627283883"/>
                    </a:ext>
                  </a:extLst>
                </a:gridCol>
              </a:tblGrid>
              <a:tr h="436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MetLifeAssetID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PortfolioCode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PrincipalBalance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MetLifeInterestTypeCode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MetLifeRatingLoanToValueRatio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229533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713227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LN_0000702920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3729738.55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123040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LN_0000701890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202282.09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33683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908155.99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357853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LN_0000702359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8920737.37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82028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40000000.00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7969324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LN_0000520115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7000000.50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75.00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4380409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9999999.00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669916"/>
                  </a:ext>
                </a:extLst>
              </a:tr>
              <a:tr h="22792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LN_0000520099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8656271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LN_0000701895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244545.86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157088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LN_0000702521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45398618.77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302624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LN_0000520120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48500000.30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757838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LN_0000702686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15349627.39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557394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2986402.19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459124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21900000.79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482430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555555.00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66.66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014394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LN_0000702609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9999999.00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104654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LN_0000701746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1211250.60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174956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17200000.30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2636499"/>
                  </a:ext>
                </a:extLst>
              </a:tr>
            </a:tbl>
          </a:graphicData>
        </a:graphic>
      </p:graphicFrame>
      <p:sp>
        <p:nvSpPr>
          <p:cNvPr id="8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4848" y="857363"/>
            <a:ext cx="8292997" cy="311037"/>
          </a:xfrm>
        </p:spPr>
        <p:txBody>
          <a:bodyPr/>
          <a:lstStyle/>
          <a:p>
            <a:r>
              <a:rPr lang="en-US" dirty="0" smtClean="0"/>
              <a:t>Adjusted values are depicted in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115494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57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Translations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09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370750" cy="657953"/>
          </a:xfrm>
        </p:spPr>
        <p:txBody>
          <a:bodyPr/>
          <a:lstStyle/>
          <a:p>
            <a:r>
              <a:rPr lang="en-US" dirty="0" smtClean="0"/>
              <a:t>Example data translations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11925" y="651551"/>
            <a:ext cx="8874843" cy="61561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Translations are “domain value” mappings that apply to many records – translations change a field from having one value to some other value, based on a mapping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1137139" y="1387412"/>
          <a:ext cx="6940062" cy="4892494"/>
        </p:xfrm>
        <a:graphic>
          <a:graphicData uri="http://schemas.openxmlformats.org/drawingml/2006/table">
            <a:tbl>
              <a:tblPr/>
              <a:tblGrid>
                <a:gridCol w="1169439">
                  <a:extLst>
                    <a:ext uri="{9D8B030D-6E8A-4147-A177-3AD203B41FA5}">
                      <a16:colId xmlns:a16="http://schemas.microsoft.com/office/drawing/2014/main" val="2156584810"/>
                    </a:ext>
                  </a:extLst>
                </a:gridCol>
                <a:gridCol w="991934">
                  <a:extLst>
                    <a:ext uri="{9D8B030D-6E8A-4147-A177-3AD203B41FA5}">
                      <a16:colId xmlns:a16="http://schemas.microsoft.com/office/drawing/2014/main" val="3939765321"/>
                    </a:ext>
                  </a:extLst>
                </a:gridCol>
                <a:gridCol w="1406110">
                  <a:extLst>
                    <a:ext uri="{9D8B030D-6E8A-4147-A177-3AD203B41FA5}">
                      <a16:colId xmlns:a16="http://schemas.microsoft.com/office/drawing/2014/main" val="1648653795"/>
                    </a:ext>
                  </a:extLst>
                </a:gridCol>
                <a:gridCol w="960611">
                  <a:extLst>
                    <a:ext uri="{9D8B030D-6E8A-4147-A177-3AD203B41FA5}">
                      <a16:colId xmlns:a16="http://schemas.microsoft.com/office/drawing/2014/main" val="1332111730"/>
                    </a:ext>
                  </a:extLst>
                </a:gridCol>
                <a:gridCol w="1117232">
                  <a:extLst>
                    <a:ext uri="{9D8B030D-6E8A-4147-A177-3AD203B41FA5}">
                      <a16:colId xmlns:a16="http://schemas.microsoft.com/office/drawing/2014/main" val="2615948732"/>
                    </a:ext>
                  </a:extLst>
                </a:gridCol>
                <a:gridCol w="1294736">
                  <a:extLst>
                    <a:ext uri="{9D8B030D-6E8A-4147-A177-3AD203B41FA5}">
                      <a16:colId xmlns:a16="http://schemas.microsoft.com/office/drawing/2014/main" val="1047091547"/>
                    </a:ext>
                  </a:extLst>
                </a:gridCol>
              </a:tblGrid>
              <a:tr h="4659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MetLifeAssetID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PortfolioCode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PrincipalBalance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MetLifeInterestTypeCode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MetLifeRatingLoanToValueRatio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524110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6715146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LN_0000702920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3729738.55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847888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LN_0000701890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202282.09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933060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908155.99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989978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LN_0000702359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8920737.37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213220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39999999.15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149622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LN_0000520115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7000000.50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25627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509985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LN_0000520099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440274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LN_0000701895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244545.86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961595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LN_0000702521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45398618.77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45801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LN_0000520120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48500000.30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530676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LN_0000702686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15349627.39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86081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2986402.19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4465721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21900000.79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53589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480025.31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260845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LN_0000702609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8850000.00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409048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LN_0000701746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1211250.60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167189"/>
                  </a:ext>
                </a:extLst>
              </a:tr>
              <a:tr h="2329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17200000.30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27592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747843" y="1820934"/>
            <a:ext cx="1019911" cy="3313774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47842" y="5189428"/>
            <a:ext cx="1019911" cy="109047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1046" y="1820934"/>
            <a:ext cx="1681167" cy="19070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err="1" smtClean="0">
                <a:solidFill>
                  <a:schemeClr val="tx1"/>
                </a:solidFill>
              </a:rPr>
              <a:t>PropertyType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Mappings for </a:t>
            </a:r>
            <a:r>
              <a:rPr lang="en-US" dirty="0" smtClean="0">
                <a:solidFill>
                  <a:schemeClr val="tx1"/>
                </a:solidFill>
              </a:rPr>
              <a:t>0BA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10" idx="3"/>
          </p:cNvCxnSpPr>
          <p:nvPr/>
        </p:nvCxnSpPr>
        <p:spPr>
          <a:xfrm>
            <a:off x="2192213" y="2774436"/>
            <a:ext cx="2555629" cy="2241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612099" y="2386256"/>
          <a:ext cx="1267067" cy="1143000"/>
        </p:xfrm>
        <a:graphic>
          <a:graphicData uri="http://schemas.openxmlformats.org/drawingml/2006/table">
            <a:tbl>
              <a:tblPr/>
              <a:tblGrid>
                <a:gridCol w="784467">
                  <a:extLst>
                    <a:ext uri="{9D8B030D-6E8A-4147-A177-3AD203B41FA5}">
                      <a16:colId xmlns:a16="http://schemas.microsoft.com/office/drawing/2014/main" val="84376064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82258803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7576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6211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5173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705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614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645578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11046" y="4584048"/>
            <a:ext cx="1798400" cy="19070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err="1" smtClean="0">
                <a:solidFill>
                  <a:schemeClr val="tx1"/>
                </a:solidFill>
              </a:rPr>
              <a:t>PropertyType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Mappings for 0BS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559346" y="5189428"/>
          <a:ext cx="1701800" cy="1143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61102146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20678002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Rentals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7372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Manufacturing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59242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Malls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3564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Resorts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44207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Misc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9841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Workspace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203079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2250830" y="5134709"/>
            <a:ext cx="2497012" cy="433521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920155" y="1830104"/>
            <a:ext cx="703384" cy="3313774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20154" y="5198598"/>
            <a:ext cx="703384" cy="109047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03472" y="1515315"/>
            <a:ext cx="1860495" cy="14339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err="1" smtClean="0">
                <a:solidFill>
                  <a:schemeClr val="tx1"/>
                </a:solidFill>
              </a:rPr>
              <a:t>InterestTypeCode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Mappings for OBA: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22" idx="1"/>
          </p:cNvCxnSpPr>
          <p:nvPr/>
        </p:nvCxnSpPr>
        <p:spPr>
          <a:xfrm flipH="1">
            <a:off x="6623542" y="2232284"/>
            <a:ext cx="679930" cy="109707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>
            <p:extLst/>
          </p:nvPr>
        </p:nvGraphicFramePr>
        <p:xfrm>
          <a:off x="7489099" y="2214827"/>
          <a:ext cx="1546129" cy="381000"/>
        </p:xfrm>
        <a:graphic>
          <a:graphicData uri="http://schemas.openxmlformats.org/drawingml/2006/table">
            <a:tbl>
              <a:tblPr/>
              <a:tblGrid>
                <a:gridCol w="692297">
                  <a:extLst>
                    <a:ext uri="{9D8B030D-6E8A-4147-A177-3AD203B41FA5}">
                      <a16:colId xmlns:a16="http://schemas.microsoft.com/office/drawing/2014/main" val="4248098462"/>
                    </a:ext>
                  </a:extLst>
                </a:gridCol>
                <a:gridCol w="853832">
                  <a:extLst>
                    <a:ext uri="{9D8B030D-6E8A-4147-A177-3AD203B41FA5}">
                      <a16:colId xmlns:a16="http://schemas.microsoft.com/office/drawing/2014/main" val="12741465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4848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926243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7286003" y="4032389"/>
            <a:ext cx="1749226" cy="14339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err="1">
                <a:solidFill>
                  <a:schemeClr val="tx1"/>
                </a:solidFill>
              </a:rPr>
              <a:t>InterestTypeCode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Mappings for </a:t>
            </a:r>
            <a:r>
              <a:rPr lang="en-US" dirty="0" smtClean="0">
                <a:solidFill>
                  <a:schemeClr val="tx1"/>
                </a:solidFill>
              </a:rPr>
              <a:t>OBS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>
            <a:stCxn id="31" idx="1"/>
          </p:cNvCxnSpPr>
          <p:nvPr/>
        </p:nvCxnSpPr>
        <p:spPr>
          <a:xfrm flipH="1">
            <a:off x="6606072" y="4749358"/>
            <a:ext cx="679931" cy="109707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7355251" y="4732078"/>
          <a:ext cx="1701800" cy="381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332839534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4103937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FixedRate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9668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VariableRate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537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73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574431" y="1030216"/>
          <a:ext cx="8053755" cy="5364352"/>
        </p:xfrm>
        <a:graphic>
          <a:graphicData uri="http://schemas.openxmlformats.org/drawingml/2006/table">
            <a:tbl>
              <a:tblPr/>
              <a:tblGrid>
                <a:gridCol w="1397196">
                  <a:extLst>
                    <a:ext uri="{9D8B030D-6E8A-4147-A177-3AD203B41FA5}">
                      <a16:colId xmlns:a16="http://schemas.microsoft.com/office/drawing/2014/main" val="989739535"/>
                    </a:ext>
                  </a:extLst>
                </a:gridCol>
                <a:gridCol w="2124192">
                  <a:extLst>
                    <a:ext uri="{9D8B030D-6E8A-4147-A177-3AD203B41FA5}">
                      <a16:colId xmlns:a16="http://schemas.microsoft.com/office/drawing/2014/main" val="50741883"/>
                    </a:ext>
                  </a:extLst>
                </a:gridCol>
                <a:gridCol w="1120786">
                  <a:extLst>
                    <a:ext uri="{9D8B030D-6E8A-4147-A177-3AD203B41FA5}">
                      <a16:colId xmlns:a16="http://schemas.microsoft.com/office/drawing/2014/main" val="3531417912"/>
                    </a:ext>
                  </a:extLst>
                </a:gridCol>
                <a:gridCol w="1215447">
                  <a:extLst>
                    <a:ext uri="{9D8B030D-6E8A-4147-A177-3AD203B41FA5}">
                      <a16:colId xmlns:a16="http://schemas.microsoft.com/office/drawing/2014/main" val="1900875668"/>
                    </a:ext>
                  </a:extLst>
                </a:gridCol>
                <a:gridCol w="1090494">
                  <a:extLst>
                    <a:ext uri="{9D8B030D-6E8A-4147-A177-3AD203B41FA5}">
                      <a16:colId xmlns:a16="http://schemas.microsoft.com/office/drawing/2014/main" val="3939244181"/>
                    </a:ext>
                  </a:extLst>
                </a:gridCol>
                <a:gridCol w="1105640">
                  <a:extLst>
                    <a:ext uri="{9D8B030D-6E8A-4147-A177-3AD203B41FA5}">
                      <a16:colId xmlns:a16="http://schemas.microsoft.com/office/drawing/2014/main" val="3192303880"/>
                    </a:ext>
                  </a:extLst>
                </a:gridCol>
              </a:tblGrid>
              <a:tr h="4616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Key:PortfolioCode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Attribute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614095"/>
                  </a:ext>
                </a:extLst>
              </a:tr>
              <a:tr h="2358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033420"/>
                  </a:ext>
                </a:extLst>
              </a:tr>
              <a:tr h="2358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667631"/>
                  </a:ext>
                </a:extLst>
              </a:tr>
              <a:tr h="2358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767290"/>
                  </a:ext>
                </a:extLst>
              </a:tr>
              <a:tr h="2358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277591"/>
                  </a:ext>
                </a:extLst>
              </a:tr>
              <a:tr h="2358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162554"/>
                  </a:ext>
                </a:extLst>
              </a:tr>
              <a:tr h="2358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873017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MetLifeInterestTypeCode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376897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MetLifeInterestTypeCode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67396"/>
                  </a:ext>
                </a:extLst>
              </a:tr>
              <a:tr h="2358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Rentals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8/31/2019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75847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Manufacturing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8/31/2019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124515"/>
                  </a:ext>
                </a:extLst>
              </a:tr>
              <a:tr h="2358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Malls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8/31/2019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194919"/>
                  </a:ext>
                </a:extLst>
              </a:tr>
              <a:tr h="2358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Resorts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8/31/2019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742536"/>
                  </a:ext>
                </a:extLst>
              </a:tr>
              <a:tr h="2358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Misc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8/31/2019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4295615"/>
                  </a:ext>
                </a:extLst>
              </a:tr>
              <a:tr h="2358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Workspace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8/31/2019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788443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MetLifeInterestTypeCode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FixedRate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8/31/2019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871520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MetLifeInterestTypeCode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VariableRate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8/14/2019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8/31/2019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039529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206627" cy="657953"/>
          </a:xfrm>
        </p:spPr>
        <p:txBody>
          <a:bodyPr/>
          <a:lstStyle/>
          <a:p>
            <a:r>
              <a:rPr lang="en-US" dirty="0" smtClean="0"/>
              <a:t>CSV file to specify Data Translations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80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312134" cy="657953"/>
          </a:xfrm>
        </p:spPr>
        <p:txBody>
          <a:bodyPr/>
          <a:lstStyle/>
          <a:p>
            <a:r>
              <a:rPr lang="en-US" dirty="0" smtClean="0"/>
              <a:t>Sample Report after applying both Adjustments &amp; Translations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668215" y="1139109"/>
          <a:ext cx="7772399" cy="5111988"/>
        </p:xfrm>
        <a:graphic>
          <a:graphicData uri="http://schemas.openxmlformats.org/drawingml/2006/table">
            <a:tbl>
              <a:tblPr/>
              <a:tblGrid>
                <a:gridCol w="1482944">
                  <a:extLst>
                    <a:ext uri="{9D8B030D-6E8A-4147-A177-3AD203B41FA5}">
                      <a16:colId xmlns:a16="http://schemas.microsoft.com/office/drawing/2014/main" val="2978303193"/>
                    </a:ext>
                  </a:extLst>
                </a:gridCol>
                <a:gridCol w="900216">
                  <a:extLst>
                    <a:ext uri="{9D8B030D-6E8A-4147-A177-3AD203B41FA5}">
                      <a16:colId xmlns:a16="http://schemas.microsoft.com/office/drawing/2014/main" val="1366513722"/>
                    </a:ext>
                  </a:extLst>
                </a:gridCol>
                <a:gridCol w="1334249">
                  <a:extLst>
                    <a:ext uri="{9D8B030D-6E8A-4147-A177-3AD203B41FA5}">
                      <a16:colId xmlns:a16="http://schemas.microsoft.com/office/drawing/2014/main" val="2115278478"/>
                    </a:ext>
                  </a:extLst>
                </a:gridCol>
                <a:gridCol w="1398549">
                  <a:extLst>
                    <a:ext uri="{9D8B030D-6E8A-4147-A177-3AD203B41FA5}">
                      <a16:colId xmlns:a16="http://schemas.microsoft.com/office/drawing/2014/main" val="2988318085"/>
                    </a:ext>
                  </a:extLst>
                </a:gridCol>
                <a:gridCol w="1221722">
                  <a:extLst>
                    <a:ext uri="{9D8B030D-6E8A-4147-A177-3AD203B41FA5}">
                      <a16:colId xmlns:a16="http://schemas.microsoft.com/office/drawing/2014/main" val="3781146806"/>
                    </a:ext>
                  </a:extLst>
                </a:gridCol>
                <a:gridCol w="1434719">
                  <a:extLst>
                    <a:ext uri="{9D8B030D-6E8A-4147-A177-3AD203B41FA5}">
                      <a16:colId xmlns:a16="http://schemas.microsoft.com/office/drawing/2014/main" val="523556773"/>
                    </a:ext>
                  </a:extLst>
                </a:gridCol>
              </a:tblGrid>
              <a:tr h="697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MetLifeAssetID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PortfolioCode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PrincipalBalance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PropertyType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MetLifeInterestTypeCode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MetLifeRatingLoanToValueRatio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28902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433723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LN_0000702920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3729738.55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APART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37360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LN_0000701890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202282.09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INDUS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1635993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908155.99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RETAI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1991307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LN_0000702359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8920737.37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APART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353056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40000000.00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395739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LN_0000520115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7000000.50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INDUS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75.00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530806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9999999.00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RETAI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VAR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359005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LN_0000520099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1300000.00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579454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LN_0000701895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244545.86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INDUS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925833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LN_0000702521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45398618.77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711132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LN_0000520120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48500000.30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INDUS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441729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LN_0000702686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15349627.39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RETAI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580690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2986402.19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OFFICE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59.95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578456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21900000.79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Malls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FixedRate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666775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LN_0000703163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555555.00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Malls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FixedRate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66.66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314537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LN_0000702609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9999999.00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Resorts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VariableRate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196529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LN_0000701746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1211250.60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Manufacturing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FixedRate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8738937"/>
                  </a:ext>
                </a:extLst>
              </a:tr>
              <a:tr h="23236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LN_0000702711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17200000.30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Workspace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FixedRate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5539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8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t>61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35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9158" y="204829"/>
            <a:ext cx="8468514" cy="657953"/>
          </a:xfrm>
        </p:spPr>
        <p:txBody>
          <a:bodyPr/>
          <a:lstStyle/>
          <a:p>
            <a:r>
              <a:rPr lang="en-US" dirty="0" smtClean="0"/>
              <a:t>GRID DataFrame </a:t>
            </a:r>
            <a:r>
              <a:rPr lang="en-US" dirty="0"/>
              <a:t>F</a:t>
            </a:r>
            <a:r>
              <a:rPr lang="en-US" dirty="0" smtClean="0"/>
              <a:t>ramework demo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6070" y="791417"/>
            <a:ext cx="8770380" cy="311037"/>
          </a:xfrm>
        </p:spPr>
        <p:txBody>
          <a:bodyPr/>
          <a:lstStyle/>
          <a:p>
            <a:r>
              <a:rPr lang="en-US" dirty="0" smtClean="0"/>
              <a:t> Demonstrate flow of data &amp; adjustments thru the yellow highlighted components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49" y="1168400"/>
            <a:ext cx="8472823" cy="542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1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272849"/>
              </p:ext>
            </p:extLst>
          </p:nvPr>
        </p:nvGraphicFramePr>
        <p:xfrm>
          <a:off x="269158" y="1119007"/>
          <a:ext cx="8582025" cy="5252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472">
                  <a:extLst>
                    <a:ext uri="{9D8B030D-6E8A-4147-A177-3AD203B41FA5}">
                      <a16:colId xmlns:a16="http://schemas.microsoft.com/office/drawing/2014/main" val="827265807"/>
                    </a:ext>
                  </a:extLst>
                </a:gridCol>
                <a:gridCol w="3066563">
                  <a:extLst>
                    <a:ext uri="{9D8B030D-6E8A-4147-A177-3AD203B41FA5}">
                      <a16:colId xmlns:a16="http://schemas.microsoft.com/office/drawing/2014/main" val="4230926567"/>
                    </a:ext>
                  </a:extLst>
                </a:gridCol>
                <a:gridCol w="5098990">
                  <a:extLst>
                    <a:ext uri="{9D8B030D-6E8A-4147-A177-3AD203B41FA5}">
                      <a16:colId xmlns:a16="http://schemas.microsoft.com/office/drawing/2014/main" val="2251278691"/>
                    </a:ext>
                  </a:extLst>
                </a:gridCol>
              </a:tblGrid>
              <a:tr h="41624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#</a:t>
                      </a:r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Action</a:t>
                      </a:r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Purpose</a:t>
                      </a:r>
                      <a:r>
                        <a:rPr lang="en-US" sz="1800" b="1" baseline="0" dirty="0" smtClean="0"/>
                        <a:t> &amp; outcome</a:t>
                      </a:r>
                      <a:endParaRPr lang="en-US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651083"/>
                  </a:ext>
                </a:extLst>
              </a:tr>
              <a:tr h="581603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Query Asset master dataframe,</a:t>
                      </a:r>
                      <a:r>
                        <a:rPr lang="en-US" sz="1400" baseline="0" dirty="0" smtClean="0"/>
                        <a:t> then </a:t>
                      </a:r>
                      <a:r>
                        <a:rPr lang="en-US" sz="1400" dirty="0" smtClean="0"/>
                        <a:t>export to CSV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Demonstrate ability to query raw ORDZ</a:t>
                      </a:r>
                      <a:r>
                        <a:rPr lang="en-US" baseline="0" dirty="0" smtClean="0"/>
                        <a:t> data via an auto-generated dataframe.  Result shows original unaltered values.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463149"/>
                  </a:ext>
                </a:extLst>
              </a:tr>
              <a:tr h="75692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Query Position +</a:t>
                      </a:r>
                      <a:r>
                        <a:rPr lang="en-US" sz="1400" baseline="0" dirty="0" smtClean="0"/>
                        <a:t> Asset master </a:t>
                      </a:r>
                      <a:r>
                        <a:rPr lang="en-US" sz="1400" dirty="0" smtClean="0"/>
                        <a:t>dataframe, then export to CSV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Demonstrate query of dataframe that combines multiple source dataframes. </a:t>
                      </a:r>
                      <a:r>
                        <a:rPr lang="en-US" baseline="0" dirty="0" smtClean="0"/>
                        <a:t>Result shows original unaltered values.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01613"/>
                  </a:ext>
                </a:extLst>
              </a:tr>
              <a:tr h="75692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3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Query aggregated principal balanced dataframe, then export to CSV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Demonstrate query of dataframe that aggregates data from a source dataframes. </a:t>
                      </a:r>
                      <a:r>
                        <a:rPr lang="en-US" baseline="0" dirty="0" smtClean="0"/>
                        <a:t>Result shows original unaltered values.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569496"/>
                  </a:ext>
                </a:extLst>
              </a:tr>
              <a:tr h="82108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4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Load adjustments &amp; translations CSV files to ORDZ, run job to propagate to dataframe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Adjustments</a:t>
                      </a:r>
                      <a:r>
                        <a:rPr lang="en-US" baseline="0" dirty="0" smtClean="0"/>
                        <a:t> &amp; Translations CSV file is loaded to the ORDZ, then a job will convert to JSON for consumption by the DFF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011671"/>
                  </a:ext>
                </a:extLst>
              </a:tr>
              <a:tr h="581603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5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Query Asset master dataframe, export to CSV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Same as #1, except</a:t>
                      </a:r>
                      <a:r>
                        <a:rPr lang="en-US" baseline="0" dirty="0" smtClean="0"/>
                        <a:t> now see that result has adjustments &amp; translations applied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3214938"/>
                  </a:ext>
                </a:extLst>
              </a:tr>
              <a:tr h="581603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6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Query Asset master &amp; Position dataframe, export to CSV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Same as #2, except</a:t>
                      </a:r>
                      <a:r>
                        <a:rPr lang="en-US" baseline="0" dirty="0" smtClean="0"/>
                        <a:t> now see that result has adjustments &amp; translations applied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268788"/>
                  </a:ext>
                </a:extLst>
              </a:tr>
              <a:tr h="75692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7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Query aggregated principal balance dataframe, export to CSV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Same as #3, except</a:t>
                      </a:r>
                      <a:r>
                        <a:rPr lang="en-US" baseline="0" dirty="0" smtClean="0"/>
                        <a:t> now see that result has adjustments &amp; translations applied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870397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D2E96-09D4-684C-BDED-6024B7F4284C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9158" y="204829"/>
            <a:ext cx="8500269" cy="657953"/>
          </a:xfrm>
        </p:spPr>
        <p:txBody>
          <a:bodyPr/>
          <a:lstStyle/>
          <a:p>
            <a:r>
              <a:rPr lang="en-US" dirty="0" smtClean="0"/>
              <a:t>GRID DataFrame </a:t>
            </a:r>
            <a:r>
              <a:rPr lang="en-US" dirty="0"/>
              <a:t>F</a:t>
            </a:r>
            <a:r>
              <a:rPr lang="en-US" dirty="0" smtClean="0"/>
              <a:t>ramework </a:t>
            </a:r>
            <a:r>
              <a:rPr lang="en-US" dirty="0"/>
              <a:t>demo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9158" y="707263"/>
            <a:ext cx="6948752" cy="311037"/>
          </a:xfrm>
        </p:spPr>
        <p:txBody>
          <a:bodyPr/>
          <a:lstStyle/>
          <a:p>
            <a:r>
              <a:rPr lang="en-US" dirty="0" smtClean="0"/>
              <a:t>Steps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To edit go to: Insert &gt; Header and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43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Theme">
  <a:themeElements>
    <a:clrScheme name="Custom 6">
      <a:dk1>
        <a:srgbClr val="000000"/>
      </a:dk1>
      <a:lt1>
        <a:srgbClr val="FFFFFF"/>
      </a:lt1>
      <a:dk2>
        <a:srgbClr val="DB0A5B"/>
      </a:dk2>
      <a:lt2>
        <a:srgbClr val="6025A9"/>
      </a:lt2>
      <a:accent1>
        <a:srgbClr val="A3CE4E"/>
      </a:accent1>
      <a:accent2>
        <a:srgbClr val="0090DA"/>
      </a:accent2>
      <a:accent3>
        <a:srgbClr val="0061A0"/>
      </a:accent3>
      <a:accent4>
        <a:srgbClr val="FFC600"/>
      </a:accent4>
      <a:accent5>
        <a:srgbClr val="00A3AD"/>
      </a:accent5>
      <a:accent6>
        <a:srgbClr val="75787B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1440" tIns="0" rIns="91440" bIns="0" rtlCol="0">
        <a:noAutofit/>
      </a:bodyPr>
      <a:lstStyle>
        <a:defPPr>
          <a:defRPr sz="2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17887</TotalTime>
  <Words>4056</Words>
  <Application>Microsoft Office PowerPoint</Application>
  <PresentationFormat>On-screen Show (4:3)</PresentationFormat>
  <Paragraphs>1431</Paragraphs>
  <Slides>62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.AppleSystemUIFont</vt:lpstr>
      <vt:lpstr>Arial</vt:lpstr>
      <vt:lpstr>Calibri</vt:lpstr>
      <vt:lpstr>Consolas</vt:lpstr>
      <vt:lpstr>Georgia</vt:lpstr>
      <vt:lpstr>Symbol</vt:lpstr>
      <vt:lpstr>1_Default Theme</vt:lpstr>
      <vt:lpstr> GRID DataFrame Framework  (GDF)  Building on solid foundations</vt:lpstr>
      <vt:lpstr>Objectives</vt:lpstr>
      <vt:lpstr>Overall Digital End-to-end Architecture</vt:lpstr>
      <vt:lpstr>Overall Digital End-to-end Architecture</vt:lpstr>
      <vt:lpstr>Overall Digital End-to-end Architecture</vt:lpstr>
      <vt:lpstr>Overall Digital End-to-end Architecture</vt:lpstr>
      <vt:lpstr>Overall Digital End-to-end Architecture</vt:lpstr>
      <vt:lpstr>Overall Digital End-to-end Architecture</vt:lpstr>
      <vt:lpstr>CML DSF       GRID                         DOS       API           Portal</vt:lpstr>
      <vt:lpstr>ETL operations required</vt:lpstr>
      <vt:lpstr>Paradigm shift</vt:lpstr>
      <vt:lpstr>   GRID - Global Repository for Investments Data</vt:lpstr>
      <vt:lpstr>GRID</vt:lpstr>
      <vt:lpstr>GRID Example</vt:lpstr>
      <vt:lpstr>GRID Example</vt:lpstr>
      <vt:lpstr>GRID Example</vt:lpstr>
      <vt:lpstr>GRID Example</vt:lpstr>
      <vt:lpstr>Logic for consuming ORDZ Files</vt:lpstr>
      <vt:lpstr>    GRID Data Framework (GDF)</vt:lpstr>
      <vt:lpstr>GRID DataFrames – a layered approach to making data available </vt:lpstr>
      <vt:lpstr>GRID Dataframe Framework </vt:lpstr>
      <vt:lpstr>GRID Data Framework - overview</vt:lpstr>
      <vt:lpstr>ORDZ Data – source system data files</vt:lpstr>
      <vt:lpstr>ORDZ DataFrames – created automatically from ORDZ Data</vt:lpstr>
      <vt:lpstr>Derived DataFrames</vt:lpstr>
      <vt:lpstr>App Notebooks</vt:lpstr>
      <vt:lpstr>GRID Data Framework Registry</vt:lpstr>
      <vt:lpstr>GRID Data Framework Registry</vt:lpstr>
      <vt:lpstr>ORDZ Dataframe Registry entry</vt:lpstr>
      <vt:lpstr>Derived Dataframe Registry entry</vt:lpstr>
      <vt:lpstr>App Notebook Registry entry</vt:lpstr>
      <vt:lpstr>Benefits of the GDF</vt:lpstr>
      <vt:lpstr>GRID Dataframe Framework </vt:lpstr>
      <vt:lpstr>  ORDZ Dataframes  Used to make it easy to consume data from the GRID</vt:lpstr>
      <vt:lpstr>ORDZ DataFrame</vt:lpstr>
      <vt:lpstr>ORDZ DataFrames</vt:lpstr>
      <vt:lpstr>  Derived Dataframes  The result of combining dataframes together</vt:lpstr>
      <vt:lpstr>Derived DataFrames</vt:lpstr>
      <vt:lpstr>Derived DataFrames</vt:lpstr>
      <vt:lpstr>  Notebooks  Where we write the logic</vt:lpstr>
      <vt:lpstr>What is a Notebook</vt:lpstr>
      <vt:lpstr>Databricks Notebooks vs GDF Notebooks</vt:lpstr>
      <vt:lpstr>GDF Notebooks</vt:lpstr>
      <vt:lpstr>GDF Notebooks</vt:lpstr>
      <vt:lpstr>Sample GDF Notebook</vt:lpstr>
      <vt:lpstr>GDF Notebook Definition</vt:lpstr>
      <vt:lpstr>  App Notebooks  Use App Notebooks to consume data for an application specific purpose</vt:lpstr>
      <vt:lpstr>App Notebooks</vt:lpstr>
      <vt:lpstr>App Notebook Registry</vt:lpstr>
      <vt:lpstr>GDF App Notebook Definition</vt:lpstr>
      <vt:lpstr>Using the GDF to apply Data Adjustments and Data Translations</vt:lpstr>
      <vt:lpstr>Sample Report to be adjusted/translated</vt:lpstr>
      <vt:lpstr>Example data adjustments</vt:lpstr>
      <vt:lpstr>CSV file to specify data adjustments</vt:lpstr>
      <vt:lpstr>Sample Report after applying data adjustments</vt:lpstr>
      <vt:lpstr>Data Translations</vt:lpstr>
      <vt:lpstr>Example data translations</vt:lpstr>
      <vt:lpstr>CSV file to specify Data Translations</vt:lpstr>
      <vt:lpstr>Sample Report after applying both Adjustments &amp; Translations</vt:lpstr>
      <vt:lpstr>Demo</vt:lpstr>
      <vt:lpstr>GRID DataFrame Framework demo</vt:lpstr>
      <vt:lpstr>GRID DataFrame Framework demo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rkempinski@metlife.com</dc:creator>
  <cp:lastModifiedBy>Kempinski, Rich</cp:lastModifiedBy>
  <cp:revision>367</cp:revision>
  <cp:lastPrinted>2017-09-25T18:15:04Z</cp:lastPrinted>
  <dcterms:created xsi:type="dcterms:W3CDTF">2016-10-12T07:45:17Z</dcterms:created>
  <dcterms:modified xsi:type="dcterms:W3CDTF">2019-09-20T21:27:52Z</dcterms:modified>
</cp:coreProperties>
</file>